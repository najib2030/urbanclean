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lice Bold Italics" charset="1" panose="00000500000000000000"/>
      <p:regular r:id="rId27"/>
    </p:embeddedFont>
    <p:embeddedFont>
      <p:font typeface="Alice Bold" charset="1" panose="00000500000000000000"/>
      <p:regular r:id="rId28"/>
    </p:embeddedFont>
    <p:embeddedFont>
      <p:font typeface="Alice" charset="1" panose="00000500000000000000"/>
      <p:regular r:id="rId29"/>
    </p:embeddedFont>
    <p:embeddedFont>
      <p:font typeface="Clear Sans" charset="1" panose="020B0503030202020304"/>
      <p:regular r:id="rId30"/>
    </p:embeddedFont>
    <p:embeddedFont>
      <p:font typeface="Clear Sans Bold" charset="1" panose="020B0803030202020304"/>
      <p:regular r:id="rId31"/>
    </p:embeddedFont>
    <p:embeddedFont>
      <p:font typeface="Clear Sans Medium" charset="1" panose="020B0603030202020304"/>
      <p:regular r:id="rId32"/>
    </p:embeddedFont>
    <p:embeddedFont>
      <p:font typeface="Clear Sans Medium Italics" charset="1" panose="020B06030302020903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png" Type="http://schemas.openxmlformats.org/officeDocument/2006/relationships/image"/><Relationship Id="rId4" Target="../media/image26.jpeg" Type="http://schemas.openxmlformats.org/officeDocument/2006/relationships/image"/><Relationship Id="rId5"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3185520" y="4221083"/>
            <a:ext cx="9296778" cy="0"/>
          </a:xfrm>
          <a:prstGeom prst="line">
            <a:avLst/>
          </a:prstGeom>
          <a:ln cap="flat" w="76200">
            <a:solidFill>
              <a:srgbClr val="0A714E"/>
            </a:solidFill>
            <a:prstDash val="solid"/>
            <a:headEnd type="none" len="sm" w="sm"/>
            <a:tailEnd type="none" len="sm" w="sm"/>
          </a:ln>
        </p:spPr>
      </p:sp>
      <p:grpSp>
        <p:nvGrpSpPr>
          <p:cNvPr name="Group 3" id="3"/>
          <p:cNvGrpSpPr/>
          <p:nvPr/>
        </p:nvGrpSpPr>
        <p:grpSpPr>
          <a:xfrm rot="0">
            <a:off x="3195992" y="115229"/>
            <a:ext cx="2286422" cy="1826942"/>
            <a:chOff x="0" y="0"/>
            <a:chExt cx="615231" cy="491594"/>
          </a:xfrm>
        </p:grpSpPr>
        <p:sp>
          <p:nvSpPr>
            <p:cNvPr name="Freeform 4" id="4"/>
            <p:cNvSpPr/>
            <p:nvPr/>
          </p:nvSpPr>
          <p:spPr>
            <a:xfrm flipH="false" flipV="false" rot="0">
              <a:off x="0" y="0"/>
              <a:ext cx="615231" cy="491594"/>
            </a:xfrm>
            <a:custGeom>
              <a:avLst/>
              <a:gdLst/>
              <a:ahLst/>
              <a:cxnLst/>
              <a:rect r="r" b="b" t="t" l="l"/>
              <a:pathLst>
                <a:path h="491594" w="615231">
                  <a:moveTo>
                    <a:pt x="307615" y="0"/>
                  </a:moveTo>
                  <a:cubicBezTo>
                    <a:pt x="137724" y="0"/>
                    <a:pt x="0" y="110047"/>
                    <a:pt x="0" y="245797"/>
                  </a:cubicBezTo>
                  <a:cubicBezTo>
                    <a:pt x="0" y="381547"/>
                    <a:pt x="137724" y="491594"/>
                    <a:pt x="307615" y="491594"/>
                  </a:cubicBezTo>
                  <a:cubicBezTo>
                    <a:pt x="477507" y="491594"/>
                    <a:pt x="615231" y="381547"/>
                    <a:pt x="615231" y="245797"/>
                  </a:cubicBezTo>
                  <a:cubicBezTo>
                    <a:pt x="615231" y="110047"/>
                    <a:pt x="477507" y="0"/>
                    <a:pt x="307615" y="0"/>
                  </a:cubicBezTo>
                  <a:close/>
                </a:path>
              </a:pathLst>
            </a:custGeom>
            <a:blipFill>
              <a:blip r:embed="rId2"/>
              <a:stretch>
                <a:fillRect l="-20495" t="-27460" r="-10563" b="-36559"/>
              </a:stretch>
            </a:blipFill>
          </p:spPr>
        </p:sp>
      </p:grpSp>
      <p:sp>
        <p:nvSpPr>
          <p:cNvPr name="Freeform 5" id="5"/>
          <p:cNvSpPr/>
          <p:nvPr/>
        </p:nvSpPr>
        <p:spPr>
          <a:xfrm flipH="false" flipV="false" rot="0">
            <a:off x="16150486" y="6671819"/>
            <a:ext cx="2045454" cy="2877236"/>
          </a:xfrm>
          <a:custGeom>
            <a:avLst/>
            <a:gdLst/>
            <a:ahLst/>
            <a:cxnLst/>
            <a:rect r="r" b="b" t="t" l="l"/>
            <a:pathLst>
              <a:path h="2877236" w="2045454">
                <a:moveTo>
                  <a:pt x="0" y="0"/>
                </a:moveTo>
                <a:lnTo>
                  <a:pt x="2045453" y="0"/>
                </a:lnTo>
                <a:lnTo>
                  <a:pt x="2045453" y="2877236"/>
                </a:lnTo>
                <a:lnTo>
                  <a:pt x="0" y="28772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145664" y="6539475"/>
            <a:ext cx="3004821" cy="3141924"/>
          </a:xfrm>
          <a:custGeom>
            <a:avLst/>
            <a:gdLst/>
            <a:ahLst/>
            <a:cxnLst/>
            <a:rect r="r" b="b" t="t" l="l"/>
            <a:pathLst>
              <a:path h="3141924" w="3004821">
                <a:moveTo>
                  <a:pt x="0" y="0"/>
                </a:moveTo>
                <a:lnTo>
                  <a:pt x="3004822" y="0"/>
                </a:lnTo>
                <a:lnTo>
                  <a:pt x="3004822" y="3141924"/>
                </a:lnTo>
                <a:lnTo>
                  <a:pt x="0" y="31419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5300752" y="-888998"/>
            <a:ext cx="4254023" cy="4114800"/>
          </a:xfrm>
          <a:custGeom>
            <a:avLst/>
            <a:gdLst/>
            <a:ahLst/>
            <a:cxnLst/>
            <a:rect r="r" b="b" t="t" l="l"/>
            <a:pathLst>
              <a:path h="4114800" w="4254023">
                <a:moveTo>
                  <a:pt x="0" y="0"/>
                </a:moveTo>
                <a:lnTo>
                  <a:pt x="4254022" y="0"/>
                </a:lnTo>
                <a:lnTo>
                  <a:pt x="425402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6223685" y="595632"/>
            <a:ext cx="4749194" cy="1021716"/>
          </a:xfrm>
          <a:prstGeom prst="rect">
            <a:avLst/>
          </a:prstGeom>
        </p:spPr>
        <p:txBody>
          <a:bodyPr anchor="t" rtlCol="false" tIns="0" lIns="0" bIns="0" rIns="0">
            <a:spAutoFit/>
          </a:bodyPr>
          <a:lstStyle/>
          <a:p>
            <a:pPr algn="l">
              <a:lnSpc>
                <a:spcPts val="8259"/>
              </a:lnSpc>
            </a:pPr>
            <a:r>
              <a:rPr lang="en-US" sz="5899" i="true">
                <a:solidFill>
                  <a:srgbClr val="0A714E"/>
                </a:solidFill>
                <a:latin typeface="Alice Bold Italics"/>
                <a:ea typeface="Alice Bold Italics"/>
                <a:cs typeface="Alice Bold Italics"/>
                <a:sym typeface="Alice Bold Italics"/>
              </a:rPr>
              <a:t>UrbanClean</a:t>
            </a:r>
          </a:p>
        </p:txBody>
      </p:sp>
      <p:sp>
        <p:nvSpPr>
          <p:cNvPr name="TextBox 9" id="9"/>
          <p:cNvSpPr txBox="true"/>
          <p:nvPr/>
        </p:nvSpPr>
        <p:spPr>
          <a:xfrm rot="0">
            <a:off x="3185520" y="2097065"/>
            <a:ext cx="12964965" cy="2755268"/>
          </a:xfrm>
          <a:prstGeom prst="rect">
            <a:avLst/>
          </a:prstGeom>
        </p:spPr>
        <p:txBody>
          <a:bodyPr anchor="t" rtlCol="false" tIns="0" lIns="0" bIns="0" rIns="0">
            <a:spAutoFit/>
          </a:bodyPr>
          <a:lstStyle/>
          <a:p>
            <a:pPr algn="l">
              <a:lnSpc>
                <a:spcPts val="4757"/>
              </a:lnSpc>
            </a:pPr>
          </a:p>
          <a:p>
            <a:pPr algn="l">
              <a:lnSpc>
                <a:spcPts val="4023"/>
              </a:lnSpc>
            </a:pPr>
            <a:r>
              <a:rPr lang="en-US" sz="4023" i="true">
                <a:solidFill>
                  <a:srgbClr val="000000"/>
                </a:solidFill>
                <a:latin typeface="Alice Bold Italics"/>
                <a:ea typeface="Alice Bold Italics"/>
                <a:cs typeface="Alice Bold Italics"/>
                <a:sym typeface="Alice Bold Italics"/>
              </a:rPr>
              <a:t>Système intelligent de gestion collaborative</a:t>
            </a:r>
          </a:p>
          <a:p>
            <a:pPr algn="l">
              <a:lnSpc>
                <a:spcPts val="4023"/>
              </a:lnSpc>
            </a:pPr>
            <a:r>
              <a:rPr lang="en-US" sz="4023" i="true">
                <a:solidFill>
                  <a:srgbClr val="000000"/>
                </a:solidFill>
                <a:latin typeface="Alice Bold Italics"/>
                <a:ea typeface="Alice Bold Italics"/>
                <a:cs typeface="Alice Bold Italics"/>
                <a:sym typeface="Alice Bold Italics"/>
              </a:rPr>
              <a:t>et d’optimisation de la propreté urbaine</a:t>
            </a:r>
          </a:p>
          <a:p>
            <a:pPr algn="l">
              <a:lnSpc>
                <a:spcPts val="8436"/>
              </a:lnSpc>
            </a:pPr>
          </a:p>
        </p:txBody>
      </p:sp>
      <p:sp>
        <p:nvSpPr>
          <p:cNvPr name="TextBox 10" id="10"/>
          <p:cNvSpPr txBox="true"/>
          <p:nvPr/>
        </p:nvSpPr>
        <p:spPr>
          <a:xfrm rot="0">
            <a:off x="8130695" y="9780314"/>
            <a:ext cx="8019790" cy="506686"/>
          </a:xfrm>
          <a:prstGeom prst="rect">
            <a:avLst/>
          </a:prstGeom>
        </p:spPr>
        <p:txBody>
          <a:bodyPr anchor="t" rtlCol="false" tIns="0" lIns="0" bIns="0" rIns="0">
            <a:spAutoFit/>
          </a:bodyPr>
          <a:lstStyle/>
          <a:p>
            <a:pPr algn="l">
              <a:lnSpc>
                <a:spcPts val="4097"/>
              </a:lnSpc>
            </a:pPr>
            <a:r>
              <a:rPr lang="en-US" sz="2926">
                <a:solidFill>
                  <a:srgbClr val="000000"/>
                </a:solidFill>
                <a:latin typeface="Alice Bold"/>
                <a:ea typeface="Alice Bold"/>
                <a:cs typeface="Alice Bold"/>
                <a:sym typeface="Alice Bold"/>
              </a:rPr>
              <a:t>Année Universitaire 2025 – 2026</a:t>
            </a:r>
          </a:p>
        </p:txBody>
      </p:sp>
      <p:sp>
        <p:nvSpPr>
          <p:cNvPr name="TextBox 11" id="11"/>
          <p:cNvSpPr txBox="true"/>
          <p:nvPr/>
        </p:nvSpPr>
        <p:spPr>
          <a:xfrm rot="0">
            <a:off x="532505" y="4125833"/>
            <a:ext cx="9135498" cy="6927530"/>
          </a:xfrm>
          <a:prstGeom prst="rect">
            <a:avLst/>
          </a:prstGeom>
        </p:spPr>
        <p:txBody>
          <a:bodyPr anchor="t" rtlCol="false" tIns="0" lIns="0" bIns="0" rIns="0">
            <a:spAutoFit/>
          </a:bodyPr>
          <a:lstStyle/>
          <a:p>
            <a:pPr algn="l">
              <a:lnSpc>
                <a:spcPts val="6142"/>
              </a:lnSpc>
            </a:pPr>
            <a:r>
              <a:rPr lang="en-US" sz="4387" i="true" u="sng">
                <a:solidFill>
                  <a:srgbClr val="000000"/>
                </a:solidFill>
                <a:latin typeface="Alice Bold Italics"/>
                <a:ea typeface="Alice Bold Italics"/>
                <a:cs typeface="Alice Bold Italics"/>
                <a:sym typeface="Alice Bold Italics"/>
              </a:rPr>
              <a:t>Présenté par  :</a:t>
            </a:r>
            <a:r>
              <a:rPr lang="en-US" sz="4387" i="true" u="sng">
                <a:solidFill>
                  <a:srgbClr val="152703"/>
                </a:solidFill>
                <a:latin typeface="Alice Bold Italics"/>
                <a:ea typeface="Alice Bold Italics"/>
                <a:cs typeface="Alice Bold Italics"/>
                <a:sym typeface="Alice Bold Italics"/>
              </a:rPr>
              <a:t> </a:t>
            </a:r>
          </a:p>
          <a:p>
            <a:pPr algn="l">
              <a:lnSpc>
                <a:spcPts val="6142"/>
              </a:lnSpc>
            </a:pPr>
            <a:r>
              <a:rPr lang="en-US" sz="4387">
                <a:solidFill>
                  <a:srgbClr val="152703"/>
                </a:solidFill>
                <a:latin typeface="Alice"/>
                <a:ea typeface="Alice"/>
                <a:cs typeface="Alice"/>
                <a:sym typeface="Alice"/>
              </a:rPr>
              <a:t>               </a:t>
            </a:r>
            <a:r>
              <a:rPr lang="en-US" sz="4387">
                <a:solidFill>
                  <a:srgbClr val="152703"/>
                </a:solidFill>
                <a:latin typeface="Alice"/>
                <a:ea typeface="Alice"/>
                <a:cs typeface="Alice"/>
                <a:sym typeface="Alice"/>
              </a:rPr>
              <a:t>Sanae Belhaj </a:t>
            </a:r>
          </a:p>
          <a:p>
            <a:pPr algn="l">
              <a:lnSpc>
                <a:spcPts val="6142"/>
              </a:lnSpc>
            </a:pPr>
            <a:r>
              <a:rPr lang="en-US" sz="4387">
                <a:solidFill>
                  <a:srgbClr val="152703"/>
                </a:solidFill>
                <a:latin typeface="Alice"/>
                <a:ea typeface="Alice"/>
                <a:cs typeface="Alice"/>
                <a:sym typeface="Alice"/>
              </a:rPr>
              <a:t>                        Abdelilah Najib </a:t>
            </a:r>
          </a:p>
          <a:p>
            <a:pPr algn="l">
              <a:lnSpc>
                <a:spcPts val="6142"/>
              </a:lnSpc>
            </a:pPr>
            <a:r>
              <a:rPr lang="en-US" sz="4387" i="true" u="sng">
                <a:solidFill>
                  <a:srgbClr val="152703"/>
                </a:solidFill>
                <a:latin typeface="Alice Bold Italics"/>
                <a:ea typeface="Alice Bold Italics"/>
                <a:cs typeface="Alice Bold Italics"/>
                <a:sym typeface="Alice Bold Italics"/>
              </a:rPr>
              <a:t>Encadrement: </a:t>
            </a:r>
          </a:p>
          <a:p>
            <a:pPr algn="l">
              <a:lnSpc>
                <a:spcPts val="6142"/>
              </a:lnSpc>
            </a:pPr>
            <a:r>
              <a:rPr lang="en-US" sz="4387">
                <a:solidFill>
                  <a:srgbClr val="152703"/>
                </a:solidFill>
                <a:latin typeface="Alice"/>
                <a:ea typeface="Alice"/>
                <a:cs typeface="Alice"/>
                <a:sym typeface="Alice"/>
              </a:rPr>
              <a:t>Pr. Hanan Anzid</a:t>
            </a:r>
          </a:p>
          <a:p>
            <a:pPr algn="l">
              <a:lnSpc>
                <a:spcPts val="6142"/>
              </a:lnSpc>
            </a:pPr>
            <a:r>
              <a:rPr lang="en-US" sz="4387">
                <a:solidFill>
                  <a:srgbClr val="152703"/>
                </a:solidFill>
                <a:latin typeface="Alice"/>
                <a:ea typeface="Alice"/>
                <a:cs typeface="Alice"/>
                <a:sym typeface="Alice"/>
              </a:rPr>
              <a:t>       </a:t>
            </a:r>
            <a:r>
              <a:rPr lang="en-US" sz="4387">
                <a:solidFill>
                  <a:srgbClr val="152703"/>
                </a:solidFill>
                <a:latin typeface="Alice"/>
                <a:ea typeface="Alice"/>
                <a:cs typeface="Alice"/>
                <a:sym typeface="Alice"/>
              </a:rPr>
              <a:t>Pr. Aicha Bakki</a:t>
            </a:r>
          </a:p>
          <a:p>
            <a:pPr algn="l">
              <a:lnSpc>
                <a:spcPts val="6142"/>
              </a:lnSpc>
            </a:pPr>
            <a:r>
              <a:rPr lang="en-US" sz="4387">
                <a:solidFill>
                  <a:srgbClr val="152703"/>
                </a:solidFill>
                <a:latin typeface="Alice"/>
                <a:ea typeface="Alice"/>
                <a:cs typeface="Alice"/>
                <a:sym typeface="Alice"/>
              </a:rPr>
              <a:t>              Pr. Sanae Mouhim</a:t>
            </a:r>
          </a:p>
          <a:p>
            <a:pPr algn="l">
              <a:lnSpc>
                <a:spcPts val="6142"/>
              </a:lnSpc>
            </a:pPr>
          </a:p>
          <a:p>
            <a:pPr algn="l">
              <a:lnSpc>
                <a:spcPts val="614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1028700" y="2543507"/>
            <a:ext cx="5214824"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14652999" y="-4137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72542" y="7040175"/>
            <a:ext cx="2416126" cy="2621044"/>
          </a:xfrm>
          <a:custGeom>
            <a:avLst/>
            <a:gdLst/>
            <a:ahLst/>
            <a:cxnLst/>
            <a:rect r="r" b="b" t="t" l="l"/>
            <a:pathLst>
              <a:path h="2621044" w="2416126">
                <a:moveTo>
                  <a:pt x="0" y="0"/>
                </a:moveTo>
                <a:lnTo>
                  <a:pt x="2416126" y="0"/>
                </a:lnTo>
                <a:lnTo>
                  <a:pt x="2416126" y="2621045"/>
                </a:lnTo>
                <a:lnTo>
                  <a:pt x="0" y="26210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6818357"/>
            <a:ext cx="2507609" cy="1119410"/>
          </a:xfrm>
          <a:prstGeom prst="rect">
            <a:avLst/>
          </a:prstGeom>
        </p:spPr>
        <p:txBody>
          <a:bodyPr anchor="t" rtlCol="false" tIns="0" lIns="0" bIns="0" rIns="0">
            <a:spAutoFit/>
          </a:bodyPr>
          <a:lstStyle/>
          <a:p>
            <a:pPr algn="l" marL="0" indent="0" lvl="0">
              <a:lnSpc>
                <a:spcPts val="8533"/>
              </a:lnSpc>
            </a:pPr>
            <a:r>
              <a:rPr lang="en-US" sz="8050" spc="297">
                <a:solidFill>
                  <a:srgbClr val="152703"/>
                </a:solidFill>
                <a:latin typeface="Clear Sans"/>
                <a:ea typeface="Clear Sans"/>
                <a:cs typeface="Clear Sans"/>
                <a:sym typeface="Clear Sans"/>
              </a:rPr>
              <a:t>05</a:t>
            </a:r>
          </a:p>
        </p:txBody>
      </p:sp>
      <p:sp>
        <p:nvSpPr>
          <p:cNvPr name="TextBox 6" id="6"/>
          <p:cNvSpPr txBox="true"/>
          <p:nvPr/>
        </p:nvSpPr>
        <p:spPr>
          <a:xfrm rot="0">
            <a:off x="1028700" y="5199827"/>
            <a:ext cx="2507609" cy="1119410"/>
          </a:xfrm>
          <a:prstGeom prst="rect">
            <a:avLst/>
          </a:prstGeom>
        </p:spPr>
        <p:txBody>
          <a:bodyPr anchor="t" rtlCol="false" tIns="0" lIns="0" bIns="0" rIns="0">
            <a:spAutoFit/>
          </a:bodyPr>
          <a:lstStyle/>
          <a:p>
            <a:pPr algn="l" marL="0" indent="0" lvl="0">
              <a:lnSpc>
                <a:spcPts val="8533"/>
              </a:lnSpc>
            </a:pPr>
            <a:r>
              <a:rPr lang="en-US" sz="8050" spc="297">
                <a:solidFill>
                  <a:srgbClr val="152703"/>
                </a:solidFill>
                <a:latin typeface="Clear Sans"/>
                <a:ea typeface="Clear Sans"/>
                <a:cs typeface="Clear Sans"/>
                <a:sym typeface="Clear Sans"/>
              </a:rPr>
              <a:t>03</a:t>
            </a:r>
          </a:p>
        </p:txBody>
      </p:sp>
      <p:sp>
        <p:nvSpPr>
          <p:cNvPr name="TextBox 7" id="7"/>
          <p:cNvSpPr txBox="true"/>
          <p:nvPr/>
        </p:nvSpPr>
        <p:spPr>
          <a:xfrm rot="0">
            <a:off x="3165040" y="7097325"/>
            <a:ext cx="5548600" cy="994700"/>
          </a:xfrm>
          <a:prstGeom prst="rect">
            <a:avLst/>
          </a:prstGeom>
        </p:spPr>
        <p:txBody>
          <a:bodyPr anchor="t" rtlCol="false" tIns="0" lIns="0" bIns="0" rIns="0">
            <a:spAutoFit/>
          </a:bodyPr>
          <a:lstStyle/>
          <a:p>
            <a:pPr algn="l">
              <a:lnSpc>
                <a:spcPts val="3970"/>
              </a:lnSpc>
              <a:spcBef>
                <a:spcPct val="0"/>
              </a:spcBef>
            </a:pPr>
            <a:r>
              <a:rPr lang="en-US" sz="3745" spc="138">
                <a:solidFill>
                  <a:srgbClr val="152703"/>
                </a:solidFill>
                <a:latin typeface="Clear Sans"/>
                <a:ea typeface="Clear Sans"/>
                <a:cs typeface="Clear Sans"/>
                <a:sym typeface="Clear Sans"/>
              </a:rPr>
              <a:t>Conclusion et perspectives</a:t>
            </a:r>
          </a:p>
        </p:txBody>
      </p:sp>
      <p:sp>
        <p:nvSpPr>
          <p:cNvPr name="TextBox 8" id="8"/>
          <p:cNvSpPr txBox="true"/>
          <p:nvPr/>
        </p:nvSpPr>
        <p:spPr>
          <a:xfrm rot="0">
            <a:off x="1028700" y="1143000"/>
            <a:ext cx="6217129" cy="1115568"/>
          </a:xfrm>
          <a:prstGeom prst="rect">
            <a:avLst/>
          </a:prstGeom>
        </p:spPr>
        <p:txBody>
          <a:bodyPr anchor="t" rtlCol="false" tIns="0" lIns="0" bIns="0" rIns="0">
            <a:spAutoFit/>
          </a:bodyPr>
          <a:lstStyle/>
          <a:p>
            <a:pPr algn="l" marL="0" indent="0" lvl="0">
              <a:lnSpc>
                <a:spcPts val="8586"/>
              </a:lnSpc>
            </a:pPr>
            <a:r>
              <a:rPr lang="en-US" b="true" sz="8100" spc="299">
                <a:solidFill>
                  <a:srgbClr val="152703"/>
                </a:solidFill>
                <a:latin typeface="Clear Sans Bold"/>
                <a:ea typeface="Clear Sans Bold"/>
                <a:cs typeface="Clear Sans Bold"/>
                <a:sym typeface="Clear Sans Bold"/>
              </a:rPr>
              <a:t>Sommaire</a:t>
            </a:r>
          </a:p>
        </p:txBody>
      </p:sp>
      <p:sp>
        <p:nvSpPr>
          <p:cNvPr name="TextBox 9" id="9"/>
          <p:cNvSpPr txBox="true"/>
          <p:nvPr/>
        </p:nvSpPr>
        <p:spPr>
          <a:xfrm rot="0">
            <a:off x="1028700" y="3586261"/>
            <a:ext cx="2136340" cy="1119410"/>
          </a:xfrm>
          <a:prstGeom prst="rect">
            <a:avLst/>
          </a:prstGeom>
        </p:spPr>
        <p:txBody>
          <a:bodyPr anchor="t" rtlCol="false" tIns="0" lIns="0" bIns="0" rIns="0">
            <a:spAutoFit/>
          </a:bodyPr>
          <a:lstStyle/>
          <a:p>
            <a:pPr algn="l" marL="0" indent="0" lvl="0">
              <a:lnSpc>
                <a:spcPts val="8533"/>
              </a:lnSpc>
            </a:pPr>
            <a:r>
              <a:rPr lang="en-US" sz="8050" spc="297">
                <a:solidFill>
                  <a:srgbClr val="152703"/>
                </a:solidFill>
                <a:latin typeface="Clear Sans"/>
                <a:ea typeface="Clear Sans"/>
                <a:cs typeface="Clear Sans"/>
                <a:sym typeface="Clear Sans"/>
              </a:rPr>
              <a:t>01</a:t>
            </a:r>
          </a:p>
        </p:txBody>
      </p:sp>
      <p:sp>
        <p:nvSpPr>
          <p:cNvPr name="TextBox 10" id="10"/>
          <p:cNvSpPr txBox="true"/>
          <p:nvPr/>
        </p:nvSpPr>
        <p:spPr>
          <a:xfrm rot="0">
            <a:off x="9192639" y="3586261"/>
            <a:ext cx="2507609" cy="1119410"/>
          </a:xfrm>
          <a:prstGeom prst="rect">
            <a:avLst/>
          </a:prstGeom>
        </p:spPr>
        <p:txBody>
          <a:bodyPr anchor="t" rtlCol="false" tIns="0" lIns="0" bIns="0" rIns="0">
            <a:spAutoFit/>
          </a:bodyPr>
          <a:lstStyle/>
          <a:p>
            <a:pPr algn="l" marL="0" indent="0" lvl="0">
              <a:lnSpc>
                <a:spcPts val="8533"/>
              </a:lnSpc>
            </a:pPr>
            <a:r>
              <a:rPr lang="en-US" sz="8050" spc="297">
                <a:solidFill>
                  <a:srgbClr val="152703"/>
                </a:solidFill>
                <a:latin typeface="Clear Sans"/>
                <a:ea typeface="Clear Sans"/>
                <a:cs typeface="Clear Sans"/>
                <a:sym typeface="Clear Sans"/>
              </a:rPr>
              <a:t>02</a:t>
            </a:r>
          </a:p>
        </p:txBody>
      </p:sp>
      <p:sp>
        <p:nvSpPr>
          <p:cNvPr name="TextBox 11" id="11"/>
          <p:cNvSpPr txBox="true"/>
          <p:nvPr/>
        </p:nvSpPr>
        <p:spPr>
          <a:xfrm rot="0">
            <a:off x="9192639" y="5199827"/>
            <a:ext cx="2507609" cy="1119410"/>
          </a:xfrm>
          <a:prstGeom prst="rect">
            <a:avLst/>
          </a:prstGeom>
        </p:spPr>
        <p:txBody>
          <a:bodyPr anchor="t" rtlCol="false" tIns="0" lIns="0" bIns="0" rIns="0">
            <a:spAutoFit/>
          </a:bodyPr>
          <a:lstStyle/>
          <a:p>
            <a:pPr algn="l" marL="0" indent="0" lvl="0">
              <a:lnSpc>
                <a:spcPts val="8533"/>
              </a:lnSpc>
            </a:pPr>
            <a:r>
              <a:rPr lang="en-US" sz="8050" spc="297">
                <a:solidFill>
                  <a:srgbClr val="152703"/>
                </a:solidFill>
                <a:latin typeface="Clear Sans"/>
                <a:ea typeface="Clear Sans"/>
                <a:cs typeface="Clear Sans"/>
                <a:sym typeface="Clear Sans"/>
              </a:rPr>
              <a:t>04</a:t>
            </a:r>
          </a:p>
        </p:txBody>
      </p:sp>
      <p:sp>
        <p:nvSpPr>
          <p:cNvPr name="TextBox 12" id="12"/>
          <p:cNvSpPr txBox="true"/>
          <p:nvPr/>
        </p:nvSpPr>
        <p:spPr>
          <a:xfrm rot="0">
            <a:off x="2884516" y="3865229"/>
            <a:ext cx="5574074" cy="502071"/>
          </a:xfrm>
          <a:prstGeom prst="rect">
            <a:avLst/>
          </a:prstGeom>
        </p:spPr>
        <p:txBody>
          <a:bodyPr anchor="t" rtlCol="false" tIns="0" lIns="0" bIns="0" rIns="0">
            <a:spAutoFit/>
          </a:bodyPr>
          <a:lstStyle/>
          <a:p>
            <a:pPr algn="l">
              <a:lnSpc>
                <a:spcPts val="3970"/>
              </a:lnSpc>
              <a:spcBef>
                <a:spcPct val="0"/>
              </a:spcBef>
            </a:pPr>
            <a:r>
              <a:rPr lang="en-US" sz="3745" spc="138">
                <a:solidFill>
                  <a:srgbClr val="152703"/>
                </a:solidFill>
                <a:latin typeface="Clear Sans"/>
                <a:ea typeface="Clear Sans"/>
                <a:cs typeface="Clear Sans"/>
                <a:sym typeface="Clear Sans"/>
              </a:rPr>
              <a:t>Plan de la soutenance</a:t>
            </a:r>
          </a:p>
        </p:txBody>
      </p:sp>
      <p:sp>
        <p:nvSpPr>
          <p:cNvPr name="TextBox 13" id="13"/>
          <p:cNvSpPr txBox="true"/>
          <p:nvPr/>
        </p:nvSpPr>
        <p:spPr>
          <a:xfrm rot="0">
            <a:off x="3165040" y="5478795"/>
            <a:ext cx="5293551" cy="994700"/>
          </a:xfrm>
          <a:prstGeom prst="rect">
            <a:avLst/>
          </a:prstGeom>
        </p:spPr>
        <p:txBody>
          <a:bodyPr anchor="t" rtlCol="false" tIns="0" lIns="0" bIns="0" rIns="0">
            <a:spAutoFit/>
          </a:bodyPr>
          <a:lstStyle/>
          <a:p>
            <a:pPr algn="l">
              <a:lnSpc>
                <a:spcPts val="3970"/>
              </a:lnSpc>
              <a:spcBef>
                <a:spcPct val="0"/>
              </a:spcBef>
            </a:pPr>
            <a:r>
              <a:rPr lang="en-US" sz="3745" spc="138">
                <a:solidFill>
                  <a:srgbClr val="152703"/>
                </a:solidFill>
                <a:latin typeface="Clear Sans"/>
                <a:ea typeface="Clear Sans"/>
                <a:cs typeface="Clear Sans"/>
                <a:sym typeface="Clear Sans"/>
              </a:rPr>
              <a:t>Architecture et technologies</a:t>
            </a:r>
          </a:p>
        </p:txBody>
      </p:sp>
      <p:sp>
        <p:nvSpPr>
          <p:cNvPr name="TextBox 14" id="14"/>
          <p:cNvSpPr txBox="true"/>
          <p:nvPr/>
        </p:nvSpPr>
        <p:spPr>
          <a:xfrm rot="0">
            <a:off x="11700249" y="3867712"/>
            <a:ext cx="5180357" cy="502071"/>
          </a:xfrm>
          <a:prstGeom prst="rect">
            <a:avLst/>
          </a:prstGeom>
        </p:spPr>
        <p:txBody>
          <a:bodyPr anchor="t" rtlCol="false" tIns="0" lIns="0" bIns="0" rIns="0">
            <a:spAutoFit/>
          </a:bodyPr>
          <a:lstStyle/>
          <a:p>
            <a:pPr algn="l">
              <a:lnSpc>
                <a:spcPts val="3970"/>
              </a:lnSpc>
              <a:spcBef>
                <a:spcPct val="0"/>
              </a:spcBef>
            </a:pPr>
            <a:r>
              <a:rPr lang="en-US" sz="3745" spc="138">
                <a:solidFill>
                  <a:srgbClr val="152703"/>
                </a:solidFill>
                <a:latin typeface="Clear Sans"/>
                <a:ea typeface="Clear Sans"/>
                <a:cs typeface="Clear Sans"/>
                <a:sym typeface="Clear Sans"/>
              </a:rPr>
              <a:t>Analyse et conception</a:t>
            </a:r>
          </a:p>
        </p:txBody>
      </p:sp>
      <p:sp>
        <p:nvSpPr>
          <p:cNvPr name="TextBox 15" id="15"/>
          <p:cNvSpPr txBox="true"/>
          <p:nvPr/>
        </p:nvSpPr>
        <p:spPr>
          <a:xfrm rot="0">
            <a:off x="11388521" y="5481277"/>
            <a:ext cx="6123976" cy="994700"/>
          </a:xfrm>
          <a:prstGeom prst="rect">
            <a:avLst/>
          </a:prstGeom>
        </p:spPr>
        <p:txBody>
          <a:bodyPr anchor="t" rtlCol="false" tIns="0" lIns="0" bIns="0" rIns="0">
            <a:spAutoFit/>
          </a:bodyPr>
          <a:lstStyle/>
          <a:p>
            <a:pPr algn="l">
              <a:lnSpc>
                <a:spcPts val="3970"/>
              </a:lnSpc>
              <a:spcBef>
                <a:spcPct val="0"/>
              </a:spcBef>
            </a:pPr>
            <a:r>
              <a:rPr lang="en-US" sz="3745" spc="138">
                <a:solidFill>
                  <a:srgbClr val="152703"/>
                </a:solidFill>
                <a:latin typeface="Clear Sans"/>
                <a:ea typeface="Clear Sans"/>
                <a:cs typeface="Clear Sans"/>
                <a:sym typeface="Clear Sans"/>
              </a:rPr>
              <a:t>Réalisation et démonstration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2951434" y="4888449"/>
            <a:ext cx="8795209"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12642963" y="488844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24792" y="3075758"/>
            <a:ext cx="1484664" cy="1115568"/>
          </a:xfrm>
          <a:prstGeom prst="rect">
            <a:avLst/>
          </a:prstGeom>
        </p:spPr>
        <p:txBody>
          <a:bodyPr anchor="t" rtlCol="false" tIns="0" lIns="0" bIns="0" rIns="0">
            <a:spAutoFit/>
          </a:bodyPr>
          <a:lstStyle/>
          <a:p>
            <a:pPr algn="l" marL="0" indent="0" lvl="0">
              <a:lnSpc>
                <a:spcPts val="8586"/>
              </a:lnSpc>
            </a:pPr>
            <a:r>
              <a:rPr lang="en-US" b="true" sz="8100" spc="299">
                <a:solidFill>
                  <a:srgbClr val="152703"/>
                </a:solidFill>
                <a:latin typeface="Clear Sans Bold"/>
                <a:ea typeface="Clear Sans Bold"/>
                <a:cs typeface="Clear Sans Bold"/>
                <a:sym typeface="Clear Sans Bold"/>
              </a:rPr>
              <a:t>01</a:t>
            </a:r>
          </a:p>
        </p:txBody>
      </p:sp>
      <p:sp>
        <p:nvSpPr>
          <p:cNvPr name="TextBox 5" id="5"/>
          <p:cNvSpPr txBox="true"/>
          <p:nvPr/>
        </p:nvSpPr>
        <p:spPr>
          <a:xfrm rot="0">
            <a:off x="2951434" y="3452567"/>
            <a:ext cx="10855860" cy="1184598"/>
          </a:xfrm>
          <a:prstGeom prst="rect">
            <a:avLst/>
          </a:prstGeom>
        </p:spPr>
        <p:txBody>
          <a:bodyPr anchor="t" rtlCol="false" tIns="0" lIns="0" bIns="0" rIns="0">
            <a:spAutoFit/>
          </a:bodyPr>
          <a:lstStyle/>
          <a:p>
            <a:pPr algn="l">
              <a:lnSpc>
                <a:spcPts val="9782"/>
              </a:lnSpc>
            </a:pPr>
            <a:r>
              <a:rPr lang="en-US" sz="6987" b="true">
                <a:solidFill>
                  <a:srgbClr val="152703"/>
                </a:solidFill>
                <a:latin typeface="Clear Sans Medium"/>
                <a:ea typeface="Clear Sans Medium"/>
                <a:cs typeface="Clear Sans Medium"/>
                <a:sym typeface="Clear Sans Medium"/>
              </a:rPr>
              <a:t>Plan de la soutenance: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1028700" y="2288458"/>
            <a:ext cx="5059297" cy="0"/>
          </a:xfrm>
          <a:prstGeom prst="line">
            <a:avLst/>
          </a:prstGeom>
          <a:ln cap="flat" w="76200">
            <a:solidFill>
              <a:srgbClr val="3C690D"/>
            </a:solidFill>
            <a:prstDash val="solid"/>
            <a:headEnd type="none" len="sm" w="sm"/>
            <a:tailEnd type="none" len="sm" w="sm"/>
          </a:ln>
        </p:spPr>
      </p:sp>
      <p:grpSp>
        <p:nvGrpSpPr>
          <p:cNvPr name="Group 3" id="3"/>
          <p:cNvGrpSpPr/>
          <p:nvPr/>
        </p:nvGrpSpPr>
        <p:grpSpPr>
          <a:xfrm rot="0">
            <a:off x="10156575" y="3072096"/>
            <a:ext cx="7704116" cy="4732990"/>
            <a:chOff x="0" y="0"/>
            <a:chExt cx="1193569" cy="733264"/>
          </a:xfrm>
        </p:grpSpPr>
        <p:sp>
          <p:nvSpPr>
            <p:cNvPr name="Freeform 4" id="4"/>
            <p:cNvSpPr/>
            <p:nvPr/>
          </p:nvSpPr>
          <p:spPr>
            <a:xfrm flipH="false" flipV="false" rot="0">
              <a:off x="0" y="0"/>
              <a:ext cx="1193569" cy="733264"/>
            </a:xfrm>
            <a:custGeom>
              <a:avLst/>
              <a:gdLst/>
              <a:ahLst/>
              <a:cxnLst/>
              <a:rect r="r" b="b" t="t" l="l"/>
              <a:pathLst>
                <a:path h="733264" w="1193569">
                  <a:moveTo>
                    <a:pt x="0" y="0"/>
                  </a:moveTo>
                  <a:lnTo>
                    <a:pt x="1193569" y="0"/>
                  </a:lnTo>
                  <a:lnTo>
                    <a:pt x="1193569" y="733264"/>
                  </a:lnTo>
                  <a:lnTo>
                    <a:pt x="0" y="733264"/>
                  </a:lnTo>
                  <a:close/>
                </a:path>
              </a:pathLst>
            </a:custGeom>
            <a:blipFill>
              <a:blip r:embed="rId2"/>
              <a:stretch>
                <a:fillRect l="0" t="-4224" r="0" b="-4224"/>
              </a:stretch>
            </a:blipFill>
          </p:spPr>
        </p:sp>
      </p:grpSp>
      <p:sp>
        <p:nvSpPr>
          <p:cNvPr name="TextBox 5" id="5"/>
          <p:cNvSpPr txBox="true"/>
          <p:nvPr/>
        </p:nvSpPr>
        <p:spPr>
          <a:xfrm rot="0">
            <a:off x="1607702" y="1185302"/>
            <a:ext cx="3758225" cy="720030"/>
          </a:xfrm>
          <a:prstGeom prst="rect">
            <a:avLst/>
          </a:prstGeom>
        </p:spPr>
        <p:txBody>
          <a:bodyPr anchor="t" rtlCol="false" tIns="0" lIns="0" bIns="0" rIns="0">
            <a:spAutoFit/>
          </a:bodyPr>
          <a:lstStyle/>
          <a:p>
            <a:pPr algn="l">
              <a:lnSpc>
                <a:spcPts val="5988"/>
              </a:lnSpc>
            </a:pPr>
            <a:r>
              <a:rPr lang="en-US" sz="4277" b="true">
                <a:solidFill>
                  <a:srgbClr val="152703"/>
                </a:solidFill>
                <a:latin typeface="Clear Sans Medium"/>
                <a:ea typeface="Clear Sans Medium"/>
                <a:cs typeface="Clear Sans Medium"/>
                <a:sym typeface="Clear Sans Medium"/>
              </a:rPr>
              <a:t> Introduction</a:t>
            </a:r>
          </a:p>
        </p:txBody>
      </p:sp>
      <p:sp>
        <p:nvSpPr>
          <p:cNvPr name="TextBox 6" id="6"/>
          <p:cNvSpPr txBox="true"/>
          <p:nvPr/>
        </p:nvSpPr>
        <p:spPr>
          <a:xfrm rot="0">
            <a:off x="575279" y="3129246"/>
            <a:ext cx="9581297" cy="4935731"/>
          </a:xfrm>
          <a:prstGeom prst="rect">
            <a:avLst/>
          </a:prstGeom>
        </p:spPr>
        <p:txBody>
          <a:bodyPr anchor="t" rtlCol="false" tIns="0" lIns="0" bIns="0" rIns="0">
            <a:spAutoFit/>
          </a:bodyPr>
          <a:lstStyle/>
          <a:p>
            <a:pPr algn="l">
              <a:lnSpc>
                <a:spcPts val="3970"/>
              </a:lnSpc>
              <a:spcBef>
                <a:spcPct val="0"/>
              </a:spcBef>
            </a:pPr>
            <a:r>
              <a:rPr lang="en-US" sz="3745" spc="138">
                <a:solidFill>
                  <a:srgbClr val="152703"/>
                </a:solidFill>
                <a:latin typeface="Clear Sans"/>
                <a:ea typeface="Clear Sans"/>
                <a:cs typeface="Clear Sans"/>
                <a:sym typeface="Clear Sans"/>
              </a:rPr>
              <a:t>Face aux défis croissants liés à la propreté urbaine, les villes ont besoin de solutions numériques permettant une meilleure gestion des signalements et des interventions. C’est dans cette optique que nous avons développé UrbanClean, une plateforme intelligente dédiée à la gestion collaborative de la propreté urbaine.</a:t>
            </a:r>
          </a:p>
          <a:p>
            <a:pPr algn="l">
              <a:lnSpc>
                <a:spcPts val="397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1028700" y="1920053"/>
            <a:ext cx="5059297" cy="0"/>
          </a:xfrm>
          <a:prstGeom prst="line">
            <a:avLst/>
          </a:prstGeom>
          <a:ln cap="flat" w="76200">
            <a:solidFill>
              <a:srgbClr val="3C690D"/>
            </a:solidFill>
            <a:prstDash val="solid"/>
            <a:headEnd type="none" len="sm" w="sm"/>
            <a:tailEnd type="none" len="sm" w="sm"/>
          </a:ln>
        </p:spPr>
      </p:sp>
      <p:sp>
        <p:nvSpPr>
          <p:cNvPr name="TextBox 3" id="3"/>
          <p:cNvSpPr txBox="true"/>
          <p:nvPr/>
        </p:nvSpPr>
        <p:spPr>
          <a:xfrm rot="0">
            <a:off x="405245" y="2420455"/>
            <a:ext cx="11423321" cy="6697770"/>
          </a:xfrm>
          <a:prstGeom prst="rect">
            <a:avLst/>
          </a:prstGeom>
        </p:spPr>
        <p:txBody>
          <a:bodyPr anchor="t" rtlCol="false" tIns="0" lIns="0" bIns="0" rIns="0">
            <a:spAutoFit/>
          </a:bodyPr>
          <a:lstStyle/>
          <a:p>
            <a:pPr algn="ctr">
              <a:lnSpc>
                <a:spcPts val="4076"/>
              </a:lnSpc>
              <a:spcBef>
                <a:spcPct val="0"/>
              </a:spcBef>
            </a:pPr>
            <a:r>
              <a:rPr lang="en-US" sz="3845" spc="142">
                <a:solidFill>
                  <a:srgbClr val="152703"/>
                </a:solidFill>
                <a:latin typeface="Clear Sans"/>
                <a:ea typeface="Clear Sans"/>
                <a:cs typeface="Clear Sans"/>
                <a:sym typeface="Clear Sans"/>
              </a:rPr>
              <a:t>Les villes modernes font face à de nombreux problèmes liés à la propreté urbaine, tels que l’accumulation des déchets, les dépôts sauvages et les dégradations de l’espace public. Les méthodes traditionnelles de signalement sont souvent lentes et ne permettent pas un suivi efficace des interventions. Dans ce contexte, la transformation numérique offre des solutions innovantes permettant d’améliorer la communication entre les citoyens, l’administration et les équipes de terrain.</a:t>
            </a:r>
          </a:p>
          <a:p>
            <a:pPr algn="ctr">
              <a:lnSpc>
                <a:spcPts val="4076"/>
              </a:lnSpc>
              <a:spcBef>
                <a:spcPct val="0"/>
              </a:spcBef>
            </a:pPr>
          </a:p>
        </p:txBody>
      </p:sp>
      <p:grpSp>
        <p:nvGrpSpPr>
          <p:cNvPr name="Group 4" id="4"/>
          <p:cNvGrpSpPr/>
          <p:nvPr/>
        </p:nvGrpSpPr>
        <p:grpSpPr>
          <a:xfrm rot="0">
            <a:off x="12291133" y="4506780"/>
            <a:ext cx="7673433" cy="5246370"/>
            <a:chOff x="0" y="0"/>
            <a:chExt cx="5572573" cy="3810000"/>
          </a:xfrm>
        </p:grpSpPr>
        <p:sp>
          <p:nvSpPr>
            <p:cNvPr name="Freeform 5" id="5"/>
            <p:cNvSpPr/>
            <p:nvPr/>
          </p:nvSpPr>
          <p:spPr>
            <a:xfrm flipH="false" flipV="false" rot="0">
              <a:off x="0" y="0"/>
              <a:ext cx="5572573" cy="3810000"/>
            </a:xfrm>
            <a:custGeom>
              <a:avLst/>
              <a:gdLst/>
              <a:ahLst/>
              <a:cxnLst/>
              <a:rect r="r" b="b" t="t" l="l"/>
              <a:pathLst>
                <a:path h="3810000" w="5572573">
                  <a:moveTo>
                    <a:pt x="0" y="1905000"/>
                  </a:moveTo>
                  <a:cubicBezTo>
                    <a:pt x="0" y="853440"/>
                    <a:pt x="748954" y="0"/>
                    <a:pt x="1671772" y="0"/>
                  </a:cubicBezTo>
                  <a:lnTo>
                    <a:pt x="3900801" y="0"/>
                  </a:lnTo>
                  <a:cubicBezTo>
                    <a:pt x="4823620" y="0"/>
                    <a:pt x="5572573" y="853440"/>
                    <a:pt x="5572573" y="1905000"/>
                  </a:cubicBezTo>
                  <a:cubicBezTo>
                    <a:pt x="5572573" y="2956560"/>
                    <a:pt x="4823620" y="3810000"/>
                    <a:pt x="3900801" y="3810000"/>
                  </a:cubicBezTo>
                  <a:lnTo>
                    <a:pt x="1671772" y="3810000"/>
                  </a:lnTo>
                  <a:cubicBezTo>
                    <a:pt x="748954" y="3810000"/>
                    <a:pt x="0" y="2956560"/>
                    <a:pt x="0" y="1905000"/>
                  </a:cubicBezTo>
                  <a:close/>
                </a:path>
              </a:pathLst>
            </a:custGeom>
            <a:blipFill>
              <a:blip r:embed="rId2"/>
              <a:stretch>
                <a:fillRect l="0" t="-4848" r="0" b="-4848"/>
              </a:stretch>
            </a:blipFill>
          </p:spPr>
        </p:sp>
      </p:grpSp>
      <p:sp>
        <p:nvSpPr>
          <p:cNvPr name="TextBox 6" id="6"/>
          <p:cNvSpPr txBox="true"/>
          <p:nvPr/>
        </p:nvSpPr>
        <p:spPr>
          <a:xfrm rot="0">
            <a:off x="1352653" y="780256"/>
            <a:ext cx="3657435" cy="846323"/>
          </a:xfrm>
          <a:prstGeom prst="rect">
            <a:avLst/>
          </a:prstGeom>
        </p:spPr>
        <p:txBody>
          <a:bodyPr anchor="t" rtlCol="false" tIns="0" lIns="0" bIns="0" rIns="0">
            <a:spAutoFit/>
          </a:bodyPr>
          <a:lstStyle/>
          <a:p>
            <a:pPr algn="l">
              <a:lnSpc>
                <a:spcPts val="6902"/>
              </a:lnSpc>
            </a:pPr>
            <a:r>
              <a:rPr lang="en-US" sz="4930" b="true">
                <a:solidFill>
                  <a:srgbClr val="152703"/>
                </a:solidFill>
                <a:latin typeface="Clear Sans Medium"/>
                <a:ea typeface="Clear Sans Medium"/>
                <a:cs typeface="Clear Sans Medium"/>
                <a:sym typeface="Clear Sans Medium"/>
              </a:rPr>
              <a:t> Contexte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1656638" y="1934810"/>
            <a:ext cx="5059297" cy="0"/>
          </a:xfrm>
          <a:prstGeom prst="line">
            <a:avLst/>
          </a:prstGeom>
          <a:ln cap="flat" w="76200">
            <a:solidFill>
              <a:srgbClr val="3C690D"/>
            </a:solidFill>
            <a:prstDash val="solid"/>
            <a:headEnd type="none" len="sm" w="sm"/>
            <a:tailEnd type="none" len="sm" w="sm"/>
          </a:ln>
        </p:spPr>
      </p:sp>
      <p:grpSp>
        <p:nvGrpSpPr>
          <p:cNvPr name="Group 3" id="3"/>
          <p:cNvGrpSpPr/>
          <p:nvPr/>
        </p:nvGrpSpPr>
        <p:grpSpPr>
          <a:xfrm rot="0">
            <a:off x="9299062" y="1934810"/>
            <a:ext cx="9477461" cy="6163956"/>
            <a:chOff x="0" y="0"/>
            <a:chExt cx="1468307" cy="954958"/>
          </a:xfrm>
        </p:grpSpPr>
        <p:sp>
          <p:nvSpPr>
            <p:cNvPr name="Freeform 4" id="4"/>
            <p:cNvSpPr/>
            <p:nvPr/>
          </p:nvSpPr>
          <p:spPr>
            <a:xfrm flipH="false" flipV="false" rot="0">
              <a:off x="0" y="0"/>
              <a:ext cx="1468307" cy="954958"/>
            </a:xfrm>
            <a:custGeom>
              <a:avLst/>
              <a:gdLst/>
              <a:ahLst/>
              <a:cxnLst/>
              <a:rect r="r" b="b" t="t" l="l"/>
              <a:pathLst>
                <a:path h="954958" w="1468307">
                  <a:moveTo>
                    <a:pt x="734153" y="0"/>
                  </a:moveTo>
                  <a:cubicBezTo>
                    <a:pt x="328692" y="0"/>
                    <a:pt x="0" y="213775"/>
                    <a:pt x="0" y="477479"/>
                  </a:cubicBezTo>
                  <a:cubicBezTo>
                    <a:pt x="0" y="741183"/>
                    <a:pt x="328692" y="954958"/>
                    <a:pt x="734153" y="954958"/>
                  </a:cubicBezTo>
                  <a:cubicBezTo>
                    <a:pt x="1139615" y="954958"/>
                    <a:pt x="1468307" y="741183"/>
                    <a:pt x="1468307" y="477479"/>
                  </a:cubicBezTo>
                  <a:cubicBezTo>
                    <a:pt x="1468307" y="213775"/>
                    <a:pt x="1139615" y="0"/>
                    <a:pt x="734153" y="0"/>
                  </a:cubicBezTo>
                  <a:close/>
                </a:path>
              </a:pathLst>
            </a:custGeom>
            <a:blipFill>
              <a:blip r:embed="rId2"/>
              <a:stretch>
                <a:fillRect l="0" t="-1220" r="0" b="-1220"/>
              </a:stretch>
            </a:blipFill>
          </p:spPr>
        </p:sp>
      </p:grpSp>
      <p:sp>
        <p:nvSpPr>
          <p:cNvPr name="TextBox 5" id="5"/>
          <p:cNvSpPr txBox="true"/>
          <p:nvPr/>
        </p:nvSpPr>
        <p:spPr>
          <a:xfrm rot="0">
            <a:off x="1907752" y="1076421"/>
            <a:ext cx="4139195"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Problématique</a:t>
            </a:r>
          </a:p>
        </p:txBody>
      </p:sp>
      <p:sp>
        <p:nvSpPr>
          <p:cNvPr name="TextBox 6" id="6"/>
          <p:cNvSpPr txBox="true"/>
          <p:nvPr/>
        </p:nvSpPr>
        <p:spPr>
          <a:xfrm rot="0">
            <a:off x="1028700" y="3545207"/>
            <a:ext cx="8115300" cy="3684900"/>
          </a:xfrm>
          <a:prstGeom prst="rect">
            <a:avLst/>
          </a:prstGeom>
        </p:spPr>
        <p:txBody>
          <a:bodyPr anchor="t" rtlCol="false" tIns="0" lIns="0" bIns="0" rIns="0">
            <a:spAutoFit/>
          </a:bodyPr>
          <a:lstStyle/>
          <a:p>
            <a:pPr algn="ctr">
              <a:lnSpc>
                <a:spcPts val="4861"/>
              </a:lnSpc>
              <a:spcBef>
                <a:spcPct val="0"/>
              </a:spcBef>
            </a:pPr>
            <a:r>
              <a:rPr lang="en-US" b="true" sz="4586" spc="169">
                <a:solidFill>
                  <a:srgbClr val="3C690D"/>
                </a:solidFill>
                <a:latin typeface="Clear Sans Bold"/>
                <a:ea typeface="Clear Sans Bold"/>
                <a:cs typeface="Clear Sans Bold"/>
                <a:sym typeface="Clear Sans Bold"/>
              </a:rPr>
              <a:t>Comment améliorer le signalement, le suivi et le traitement des problèmes de propreté urbaine grâce à une solution numérique intelligente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3060523" y="1806697"/>
            <a:ext cx="5059297" cy="0"/>
          </a:xfrm>
          <a:prstGeom prst="line">
            <a:avLst/>
          </a:prstGeom>
          <a:ln cap="flat" w="76200">
            <a:solidFill>
              <a:srgbClr val="3C690D"/>
            </a:solidFill>
            <a:prstDash val="solid"/>
            <a:headEnd type="none" len="sm" w="sm"/>
            <a:tailEnd type="none" len="sm" w="sm"/>
          </a:ln>
        </p:spPr>
      </p:sp>
      <p:grpSp>
        <p:nvGrpSpPr>
          <p:cNvPr name="Group 3" id="3"/>
          <p:cNvGrpSpPr/>
          <p:nvPr/>
        </p:nvGrpSpPr>
        <p:grpSpPr>
          <a:xfrm rot="0">
            <a:off x="10177758" y="3183077"/>
            <a:ext cx="7769732" cy="6489221"/>
            <a:chOff x="0" y="0"/>
            <a:chExt cx="1203735" cy="1005350"/>
          </a:xfrm>
        </p:grpSpPr>
        <p:sp>
          <p:nvSpPr>
            <p:cNvPr name="Freeform 4" id="4"/>
            <p:cNvSpPr/>
            <p:nvPr/>
          </p:nvSpPr>
          <p:spPr>
            <a:xfrm flipH="false" flipV="false" rot="0">
              <a:off x="0" y="0"/>
              <a:ext cx="1203735" cy="1005350"/>
            </a:xfrm>
            <a:custGeom>
              <a:avLst/>
              <a:gdLst/>
              <a:ahLst/>
              <a:cxnLst/>
              <a:rect r="r" b="b" t="t" l="l"/>
              <a:pathLst>
                <a:path h="1005350" w="1203735">
                  <a:moveTo>
                    <a:pt x="0" y="0"/>
                  </a:moveTo>
                  <a:lnTo>
                    <a:pt x="1203735" y="0"/>
                  </a:lnTo>
                  <a:lnTo>
                    <a:pt x="1203735" y="1005350"/>
                  </a:lnTo>
                  <a:lnTo>
                    <a:pt x="0" y="1005350"/>
                  </a:lnTo>
                  <a:close/>
                </a:path>
              </a:pathLst>
            </a:custGeom>
            <a:blipFill>
              <a:blip r:embed="rId2"/>
              <a:stretch>
                <a:fillRect l="-12678" t="0" r="-12678" b="0"/>
              </a:stretch>
            </a:blipFill>
          </p:spPr>
        </p:sp>
      </p:grpSp>
      <p:sp>
        <p:nvSpPr>
          <p:cNvPr name="TextBox 5" id="5"/>
          <p:cNvSpPr txBox="true"/>
          <p:nvPr/>
        </p:nvSpPr>
        <p:spPr>
          <a:xfrm rot="0">
            <a:off x="3761454" y="575693"/>
            <a:ext cx="3657435" cy="820288"/>
          </a:xfrm>
          <a:prstGeom prst="rect">
            <a:avLst/>
          </a:prstGeom>
        </p:spPr>
        <p:txBody>
          <a:bodyPr anchor="t" rtlCol="false" tIns="0" lIns="0" bIns="0" rIns="0">
            <a:spAutoFit/>
          </a:bodyPr>
          <a:lstStyle/>
          <a:p>
            <a:pPr algn="l">
              <a:lnSpc>
                <a:spcPts val="6762"/>
              </a:lnSpc>
            </a:pPr>
            <a:r>
              <a:rPr lang="en-US" sz="4830" i="true" b="true">
                <a:solidFill>
                  <a:srgbClr val="152703"/>
                </a:solidFill>
                <a:latin typeface="Clear Sans Medium Italics"/>
                <a:ea typeface="Clear Sans Medium Italics"/>
                <a:cs typeface="Clear Sans Medium Italics"/>
                <a:sym typeface="Clear Sans Medium Italics"/>
              </a:rPr>
              <a:t>   Objectifs</a:t>
            </a:r>
          </a:p>
        </p:txBody>
      </p:sp>
      <p:sp>
        <p:nvSpPr>
          <p:cNvPr name="TextBox 6" id="6"/>
          <p:cNvSpPr txBox="true"/>
          <p:nvPr/>
        </p:nvSpPr>
        <p:spPr>
          <a:xfrm rot="0">
            <a:off x="1028700" y="2273422"/>
            <a:ext cx="9581297" cy="7398875"/>
          </a:xfrm>
          <a:prstGeom prst="rect">
            <a:avLst/>
          </a:prstGeom>
        </p:spPr>
        <p:txBody>
          <a:bodyPr anchor="t" rtlCol="false" tIns="0" lIns="0" bIns="0" rIns="0">
            <a:spAutoFit/>
          </a:bodyPr>
          <a:lstStyle/>
          <a:p>
            <a:pPr algn="l">
              <a:lnSpc>
                <a:spcPts val="3970"/>
              </a:lnSpc>
            </a:pPr>
            <a:r>
              <a:rPr lang="en-US" sz="3745" spc="138">
                <a:solidFill>
                  <a:srgbClr val="152703"/>
                </a:solidFill>
                <a:latin typeface="Clear Sans"/>
                <a:ea typeface="Clear Sans"/>
                <a:cs typeface="Clear Sans"/>
                <a:sym typeface="Clear Sans"/>
              </a:rPr>
              <a:t>• Faciliter le signalement des problèmes de propreté par les citoyens.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Améliorer le suivi et le traitement des réclamations.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Optimiser l’organisation des interventions des équipes de terrain.</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Renforcer la communication entre citoyens, agents et gestionnaires.</a:t>
            </a:r>
          </a:p>
          <a:p>
            <a:pPr algn="l">
              <a:lnSpc>
                <a:spcPts val="3970"/>
              </a:lnSpc>
            </a:pPr>
          </a:p>
          <a:p>
            <a:pPr algn="l">
              <a:lnSpc>
                <a:spcPts val="3970"/>
              </a:lnSpc>
              <a:spcBef>
                <a:spcPct val="0"/>
              </a:spcBef>
            </a:pPr>
            <a:r>
              <a:rPr lang="en-US" sz="3745" spc="138">
                <a:solidFill>
                  <a:srgbClr val="152703"/>
                </a:solidFill>
                <a:latin typeface="Clear Sans"/>
                <a:ea typeface="Clear Sans"/>
                <a:cs typeface="Clear Sans"/>
                <a:sym typeface="Clear Sans"/>
              </a:rPr>
              <a:t>• Contribuer à l’amélioration de la propreté et de l’image des villes.</a:t>
            </a:r>
          </a:p>
          <a:p>
            <a:pPr algn="l">
              <a:lnSpc>
                <a:spcPts val="397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2951434" y="4888449"/>
            <a:ext cx="8795209"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12642963" y="488844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24792" y="3075758"/>
            <a:ext cx="1484664" cy="1115568"/>
          </a:xfrm>
          <a:prstGeom prst="rect">
            <a:avLst/>
          </a:prstGeom>
        </p:spPr>
        <p:txBody>
          <a:bodyPr anchor="t" rtlCol="false" tIns="0" lIns="0" bIns="0" rIns="0">
            <a:spAutoFit/>
          </a:bodyPr>
          <a:lstStyle/>
          <a:p>
            <a:pPr algn="l" marL="0" indent="0" lvl="0">
              <a:lnSpc>
                <a:spcPts val="8586"/>
              </a:lnSpc>
            </a:pPr>
            <a:r>
              <a:rPr lang="en-US" b="true" sz="8100" spc="299">
                <a:solidFill>
                  <a:srgbClr val="152703"/>
                </a:solidFill>
                <a:latin typeface="Clear Sans Bold"/>
                <a:ea typeface="Clear Sans Bold"/>
                <a:cs typeface="Clear Sans Bold"/>
                <a:sym typeface="Clear Sans Bold"/>
              </a:rPr>
              <a:t>02</a:t>
            </a:r>
          </a:p>
        </p:txBody>
      </p:sp>
      <p:sp>
        <p:nvSpPr>
          <p:cNvPr name="TextBox 5" id="5"/>
          <p:cNvSpPr txBox="true"/>
          <p:nvPr/>
        </p:nvSpPr>
        <p:spPr>
          <a:xfrm rot="0">
            <a:off x="2951434" y="3452567"/>
            <a:ext cx="10855860" cy="1184598"/>
          </a:xfrm>
          <a:prstGeom prst="rect">
            <a:avLst/>
          </a:prstGeom>
        </p:spPr>
        <p:txBody>
          <a:bodyPr anchor="t" rtlCol="false" tIns="0" lIns="0" bIns="0" rIns="0">
            <a:spAutoFit/>
          </a:bodyPr>
          <a:lstStyle/>
          <a:p>
            <a:pPr algn="l">
              <a:lnSpc>
                <a:spcPts val="9782"/>
              </a:lnSpc>
            </a:pPr>
            <a:r>
              <a:rPr lang="en-US" sz="6987" b="true">
                <a:solidFill>
                  <a:srgbClr val="152703"/>
                </a:solidFill>
                <a:latin typeface="Clear Sans Medium"/>
                <a:ea typeface="Clear Sans Medium"/>
                <a:cs typeface="Clear Sans Medium"/>
                <a:sym typeface="Clear Sans Medium"/>
              </a:rPr>
              <a:t>Analyse et conception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3687724" y="1257632"/>
            <a:ext cx="5059297" cy="0"/>
          </a:xfrm>
          <a:prstGeom prst="line">
            <a:avLst/>
          </a:prstGeom>
          <a:ln cap="flat" w="76200">
            <a:solidFill>
              <a:srgbClr val="3C690D"/>
            </a:solidFill>
            <a:prstDash val="solid"/>
            <a:headEnd type="none" len="sm" w="sm"/>
            <a:tailEnd type="none" len="sm" w="sm"/>
          </a:ln>
        </p:spPr>
      </p:sp>
      <p:sp>
        <p:nvSpPr>
          <p:cNvPr name="TextBox 3" id="3"/>
          <p:cNvSpPr txBox="true"/>
          <p:nvPr/>
        </p:nvSpPr>
        <p:spPr>
          <a:xfrm rot="0">
            <a:off x="1919874" y="3133694"/>
            <a:ext cx="10892167" cy="3427775"/>
          </a:xfrm>
          <a:prstGeom prst="rect">
            <a:avLst/>
          </a:prstGeom>
        </p:spPr>
        <p:txBody>
          <a:bodyPr anchor="t" rtlCol="false" tIns="0" lIns="0" bIns="0" rIns="0">
            <a:spAutoFit/>
          </a:bodyPr>
          <a:lstStyle/>
          <a:p>
            <a:pPr algn="l">
              <a:lnSpc>
                <a:spcPts val="3440"/>
              </a:lnSpc>
            </a:pPr>
            <a:r>
              <a:rPr lang="en-US" sz="3245" spc="120">
                <a:solidFill>
                  <a:srgbClr val="152703"/>
                </a:solidFill>
                <a:latin typeface="Clear Sans"/>
                <a:ea typeface="Clear Sans"/>
                <a:cs typeface="Clear Sans"/>
                <a:sym typeface="Clear Sans"/>
              </a:rPr>
              <a:t>• Inscription et authentification des utilisateurs.</a:t>
            </a:r>
          </a:p>
          <a:p>
            <a:pPr algn="l">
              <a:lnSpc>
                <a:spcPts val="3440"/>
              </a:lnSpc>
            </a:pPr>
            <a:r>
              <a:rPr lang="en-US" sz="3245" spc="120">
                <a:solidFill>
                  <a:srgbClr val="152703"/>
                </a:solidFill>
                <a:latin typeface="Clear Sans"/>
                <a:ea typeface="Clear Sans"/>
                <a:cs typeface="Clear Sans"/>
                <a:sym typeface="Clear Sans"/>
              </a:rPr>
              <a:t>• Création et suivi des réclamations.</a:t>
            </a:r>
          </a:p>
          <a:p>
            <a:pPr algn="l">
              <a:lnSpc>
                <a:spcPts val="3440"/>
              </a:lnSpc>
            </a:pPr>
            <a:r>
              <a:rPr lang="en-US" sz="3245" spc="120">
                <a:solidFill>
                  <a:srgbClr val="152703"/>
                </a:solidFill>
                <a:latin typeface="Clear Sans"/>
                <a:ea typeface="Clear Sans"/>
                <a:cs typeface="Clear Sans"/>
                <a:sym typeface="Clear Sans"/>
              </a:rPr>
              <a:t>• Ajout de photos et de la géolocalisation.</a:t>
            </a:r>
          </a:p>
          <a:p>
            <a:pPr algn="l">
              <a:lnSpc>
                <a:spcPts val="3440"/>
              </a:lnSpc>
            </a:pPr>
            <a:r>
              <a:rPr lang="en-US" sz="3245" spc="120">
                <a:solidFill>
                  <a:srgbClr val="152703"/>
                </a:solidFill>
                <a:latin typeface="Clear Sans"/>
                <a:ea typeface="Clear Sans"/>
                <a:cs typeface="Clear Sans"/>
                <a:sym typeface="Clear Sans"/>
              </a:rPr>
              <a:t>• Affectation des tâches aux équipes.</a:t>
            </a:r>
          </a:p>
          <a:p>
            <a:pPr algn="l">
              <a:lnSpc>
                <a:spcPts val="3440"/>
              </a:lnSpc>
            </a:pPr>
            <a:r>
              <a:rPr lang="en-US" sz="3245" spc="120">
                <a:solidFill>
                  <a:srgbClr val="152703"/>
                </a:solidFill>
                <a:latin typeface="Clear Sans"/>
                <a:ea typeface="Clear Sans"/>
                <a:cs typeface="Clear Sans"/>
                <a:sym typeface="Clear Sans"/>
              </a:rPr>
              <a:t>• Gestion des tournées et des interventions.</a:t>
            </a:r>
          </a:p>
          <a:p>
            <a:pPr algn="l">
              <a:lnSpc>
                <a:spcPts val="3440"/>
              </a:lnSpc>
            </a:pPr>
            <a:r>
              <a:rPr lang="en-US" sz="3245" spc="120">
                <a:solidFill>
                  <a:srgbClr val="152703"/>
                </a:solidFill>
                <a:latin typeface="Clear Sans"/>
                <a:ea typeface="Clear Sans"/>
                <a:cs typeface="Clear Sans"/>
                <a:sym typeface="Clear Sans"/>
              </a:rPr>
              <a:t>• Consultation des statistiques et du tableau de bord.</a:t>
            </a:r>
          </a:p>
          <a:p>
            <a:pPr algn="l">
              <a:lnSpc>
                <a:spcPts val="3440"/>
              </a:lnSpc>
              <a:spcBef>
                <a:spcPct val="0"/>
              </a:spcBef>
            </a:pPr>
            <a:r>
              <a:rPr lang="en-US" sz="3245" spc="120">
                <a:solidFill>
                  <a:srgbClr val="152703"/>
                </a:solidFill>
                <a:latin typeface="Clear Sans"/>
                <a:ea typeface="Clear Sans"/>
                <a:cs typeface="Clear Sans"/>
                <a:sym typeface="Clear Sans"/>
              </a:rPr>
              <a:t>• Envoi et réception des notifications.</a:t>
            </a:r>
          </a:p>
          <a:p>
            <a:pPr algn="l">
              <a:lnSpc>
                <a:spcPts val="3228"/>
              </a:lnSpc>
              <a:spcBef>
                <a:spcPct val="0"/>
              </a:spcBef>
            </a:pPr>
          </a:p>
        </p:txBody>
      </p:sp>
      <p:sp>
        <p:nvSpPr>
          <p:cNvPr name="Freeform 4" id="4"/>
          <p:cNvSpPr/>
          <p:nvPr/>
        </p:nvSpPr>
        <p:spPr>
          <a:xfrm flipH="false" flipV="false" rot="-2079354">
            <a:off x="14689504" y="-25597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94368" y="6913894"/>
            <a:ext cx="2622533" cy="2431803"/>
          </a:xfrm>
          <a:custGeom>
            <a:avLst/>
            <a:gdLst/>
            <a:ahLst/>
            <a:cxnLst/>
            <a:rect r="r" b="b" t="t" l="l"/>
            <a:pathLst>
              <a:path h="2431803" w="2622533">
                <a:moveTo>
                  <a:pt x="0" y="0"/>
                </a:moveTo>
                <a:lnTo>
                  <a:pt x="2622533" y="0"/>
                </a:lnTo>
                <a:lnTo>
                  <a:pt x="2622533" y="2431803"/>
                </a:lnTo>
                <a:lnTo>
                  <a:pt x="0" y="24318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530193" y="6659046"/>
            <a:ext cx="2433422" cy="2941499"/>
          </a:xfrm>
          <a:custGeom>
            <a:avLst/>
            <a:gdLst/>
            <a:ahLst/>
            <a:cxnLst/>
            <a:rect r="r" b="b" t="t" l="l"/>
            <a:pathLst>
              <a:path h="2941499" w="2433422">
                <a:moveTo>
                  <a:pt x="0" y="0"/>
                </a:moveTo>
                <a:lnTo>
                  <a:pt x="2433422" y="0"/>
                </a:lnTo>
                <a:lnTo>
                  <a:pt x="2433422" y="2941499"/>
                </a:lnTo>
                <a:lnTo>
                  <a:pt x="0" y="29414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388655" y="182377"/>
            <a:ext cx="3657435" cy="846323"/>
          </a:xfrm>
          <a:prstGeom prst="rect">
            <a:avLst/>
          </a:prstGeom>
        </p:spPr>
        <p:txBody>
          <a:bodyPr anchor="t" rtlCol="false" tIns="0" lIns="0" bIns="0" rIns="0">
            <a:spAutoFit/>
          </a:bodyPr>
          <a:lstStyle/>
          <a:p>
            <a:pPr algn="l">
              <a:lnSpc>
                <a:spcPts val="6902"/>
              </a:lnSpc>
            </a:pPr>
            <a:r>
              <a:rPr lang="en-US" sz="4930" b="true">
                <a:solidFill>
                  <a:srgbClr val="152703"/>
                </a:solidFill>
                <a:latin typeface="Clear Sans Medium"/>
                <a:ea typeface="Clear Sans Medium"/>
                <a:cs typeface="Clear Sans Medium"/>
                <a:sym typeface="Clear Sans Medium"/>
              </a:rPr>
              <a:t>Les besoins</a:t>
            </a:r>
          </a:p>
        </p:txBody>
      </p:sp>
      <p:sp>
        <p:nvSpPr>
          <p:cNvPr name="TextBox 8" id="8"/>
          <p:cNvSpPr txBox="true"/>
          <p:nvPr/>
        </p:nvSpPr>
        <p:spPr>
          <a:xfrm rot="0">
            <a:off x="559609" y="1924216"/>
            <a:ext cx="10566516"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Les besoins fonctionnels : </a:t>
            </a:r>
          </a:p>
        </p:txBody>
      </p:sp>
      <p:sp>
        <p:nvSpPr>
          <p:cNvPr name="TextBox 9" id="9"/>
          <p:cNvSpPr txBox="true"/>
          <p:nvPr/>
        </p:nvSpPr>
        <p:spPr>
          <a:xfrm rot="0">
            <a:off x="6217372" y="7583431"/>
            <a:ext cx="10892167" cy="2999150"/>
          </a:xfrm>
          <a:prstGeom prst="rect">
            <a:avLst/>
          </a:prstGeom>
        </p:spPr>
        <p:txBody>
          <a:bodyPr anchor="t" rtlCol="false" tIns="0" lIns="0" bIns="0" rIns="0">
            <a:spAutoFit/>
          </a:bodyPr>
          <a:lstStyle/>
          <a:p>
            <a:pPr algn="l">
              <a:lnSpc>
                <a:spcPts val="3440"/>
              </a:lnSpc>
            </a:pPr>
            <a:r>
              <a:rPr lang="en-US" sz="3245" spc="120">
                <a:solidFill>
                  <a:srgbClr val="152703"/>
                </a:solidFill>
                <a:latin typeface="Clear Sans"/>
                <a:ea typeface="Clear Sans"/>
                <a:cs typeface="Clear Sans"/>
                <a:sym typeface="Clear Sans"/>
              </a:rPr>
              <a:t>• Sécurité des données.</a:t>
            </a:r>
          </a:p>
          <a:p>
            <a:pPr algn="l">
              <a:lnSpc>
                <a:spcPts val="3440"/>
              </a:lnSpc>
            </a:pPr>
            <a:r>
              <a:rPr lang="en-US" sz="3245" spc="120">
                <a:solidFill>
                  <a:srgbClr val="152703"/>
                </a:solidFill>
                <a:latin typeface="Clear Sans"/>
                <a:ea typeface="Clear Sans"/>
                <a:cs typeface="Clear Sans"/>
                <a:sym typeface="Clear Sans"/>
              </a:rPr>
              <a:t>• Interface simple et intuitive.</a:t>
            </a:r>
          </a:p>
          <a:p>
            <a:pPr algn="l">
              <a:lnSpc>
                <a:spcPts val="3440"/>
              </a:lnSpc>
            </a:pPr>
            <a:r>
              <a:rPr lang="en-US" sz="3245" spc="120">
                <a:solidFill>
                  <a:srgbClr val="152703"/>
                </a:solidFill>
                <a:latin typeface="Clear Sans"/>
                <a:ea typeface="Clear Sans"/>
                <a:cs typeface="Clear Sans"/>
                <a:sym typeface="Clear Sans"/>
              </a:rPr>
              <a:t>• Performance et rapidité d’exécution.</a:t>
            </a:r>
          </a:p>
          <a:p>
            <a:pPr algn="l">
              <a:lnSpc>
                <a:spcPts val="3440"/>
              </a:lnSpc>
            </a:pPr>
            <a:r>
              <a:rPr lang="en-US" sz="3245" spc="120">
                <a:solidFill>
                  <a:srgbClr val="152703"/>
                </a:solidFill>
                <a:latin typeface="Clear Sans"/>
                <a:ea typeface="Clear Sans"/>
                <a:cs typeface="Clear Sans"/>
                <a:sym typeface="Clear Sans"/>
              </a:rPr>
              <a:t>• Disponibilité en temps réel.</a:t>
            </a:r>
          </a:p>
          <a:p>
            <a:pPr algn="l">
              <a:lnSpc>
                <a:spcPts val="3440"/>
              </a:lnSpc>
            </a:pPr>
            <a:r>
              <a:rPr lang="en-US" sz="3245" spc="120">
                <a:solidFill>
                  <a:srgbClr val="152703"/>
                </a:solidFill>
                <a:latin typeface="Clear Sans"/>
                <a:ea typeface="Clear Sans"/>
                <a:cs typeface="Clear Sans"/>
                <a:sym typeface="Clear Sans"/>
              </a:rPr>
              <a:t>• Compatibilité avec différents appareils.</a:t>
            </a:r>
          </a:p>
          <a:p>
            <a:pPr algn="l">
              <a:lnSpc>
                <a:spcPts val="3440"/>
              </a:lnSpc>
              <a:spcBef>
                <a:spcPct val="0"/>
              </a:spcBef>
            </a:pPr>
            <a:r>
              <a:rPr lang="en-US" sz="3245" spc="120">
                <a:solidFill>
                  <a:srgbClr val="152703"/>
                </a:solidFill>
                <a:latin typeface="Clear Sans"/>
                <a:ea typeface="Clear Sans"/>
                <a:cs typeface="Clear Sans"/>
                <a:sym typeface="Clear Sans"/>
              </a:rPr>
              <a:t>• Facilité de maintenance et d’évolution.</a:t>
            </a:r>
          </a:p>
          <a:p>
            <a:pPr algn="l">
              <a:lnSpc>
                <a:spcPts val="3228"/>
              </a:lnSpc>
              <a:spcBef>
                <a:spcPct val="0"/>
              </a:spcBef>
            </a:pPr>
          </a:p>
        </p:txBody>
      </p:sp>
      <p:sp>
        <p:nvSpPr>
          <p:cNvPr name="TextBox 10" id="10"/>
          <p:cNvSpPr txBox="true"/>
          <p:nvPr/>
        </p:nvSpPr>
        <p:spPr>
          <a:xfrm rot="0">
            <a:off x="3609451" y="6475744"/>
            <a:ext cx="10275140" cy="2155538"/>
          </a:xfrm>
          <a:prstGeom prst="rect">
            <a:avLst/>
          </a:prstGeom>
        </p:spPr>
        <p:txBody>
          <a:bodyPr anchor="t" rtlCol="false" tIns="0" lIns="0" bIns="0" rIns="0">
            <a:spAutoFit/>
          </a:bodyPr>
          <a:lstStyle/>
          <a:p>
            <a:pPr algn="l">
              <a:lnSpc>
                <a:spcPts val="5715"/>
              </a:lnSpc>
            </a:pPr>
            <a:r>
              <a:rPr lang="en-US" sz="4082" b="true">
                <a:solidFill>
                  <a:srgbClr val="152703"/>
                </a:solidFill>
                <a:latin typeface="Clear Sans Medium"/>
                <a:ea typeface="Clear Sans Medium"/>
                <a:cs typeface="Clear Sans Medium"/>
                <a:sym typeface="Clear Sans Medium"/>
              </a:rPr>
              <a:t>Les besoins non fonctionnels : </a:t>
            </a:r>
          </a:p>
          <a:p>
            <a:pPr algn="l">
              <a:lnSpc>
                <a:spcPts val="5715"/>
              </a:lnSpc>
            </a:pPr>
          </a:p>
          <a:p>
            <a:pPr algn="l">
              <a:lnSpc>
                <a:spcPts val="571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519465" y="1066800"/>
            <a:ext cx="5059297" cy="0"/>
          </a:xfrm>
          <a:prstGeom prst="line">
            <a:avLst/>
          </a:prstGeom>
          <a:ln cap="flat" w="76200">
            <a:solidFill>
              <a:srgbClr val="3C690D"/>
            </a:solidFill>
            <a:prstDash val="solid"/>
            <a:headEnd type="none" len="sm" w="sm"/>
            <a:tailEnd type="none" len="sm" w="sm"/>
          </a:ln>
        </p:spPr>
      </p:sp>
      <p:grpSp>
        <p:nvGrpSpPr>
          <p:cNvPr name="Group 3" id="3"/>
          <p:cNvGrpSpPr>
            <a:grpSpLocks noChangeAspect="true"/>
          </p:cNvGrpSpPr>
          <p:nvPr/>
        </p:nvGrpSpPr>
        <p:grpSpPr>
          <a:xfrm rot="0">
            <a:off x="1585315" y="1302109"/>
            <a:ext cx="3309765" cy="3309765"/>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blipFill>
              <a:blip r:embed="rId2"/>
              <a:stretch>
                <a:fillRect l="0" t="-16225" r="0" b="-16225"/>
              </a:stretch>
            </a:blipFill>
          </p:spPr>
        </p:sp>
        <p:sp>
          <p:nvSpPr>
            <p:cNvPr name="Freeform 5" id="5"/>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blipFill>
              <a:blip r:embed="rId3"/>
              <a:stretch>
                <a:fillRect l="0" t="0" r="0" b="0"/>
              </a:stretch>
            </a:blipFill>
          </p:spPr>
        </p:sp>
      </p:grpSp>
      <p:grpSp>
        <p:nvGrpSpPr>
          <p:cNvPr name="Group 6" id="6"/>
          <p:cNvGrpSpPr>
            <a:grpSpLocks noChangeAspect="true"/>
          </p:cNvGrpSpPr>
          <p:nvPr/>
        </p:nvGrpSpPr>
        <p:grpSpPr>
          <a:xfrm rot="0">
            <a:off x="7956910" y="801856"/>
            <a:ext cx="3309765" cy="3309765"/>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blipFill>
              <a:blip r:embed="rId4"/>
              <a:stretch>
                <a:fillRect l="-13897" t="0" r="-13897" b="0"/>
              </a:stretch>
            </a:blipFill>
          </p:spPr>
        </p:sp>
        <p:sp>
          <p:nvSpPr>
            <p:cNvPr name="Freeform 8" id="8"/>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blipFill>
              <a:blip r:embed="rId3"/>
              <a:stretch>
                <a:fillRect l="0" t="0" r="0" b="0"/>
              </a:stretch>
            </a:blipFill>
          </p:spPr>
        </p:sp>
      </p:grpSp>
      <p:grpSp>
        <p:nvGrpSpPr>
          <p:cNvPr name="Group 9" id="9"/>
          <p:cNvGrpSpPr>
            <a:grpSpLocks noChangeAspect="true"/>
          </p:cNvGrpSpPr>
          <p:nvPr/>
        </p:nvGrpSpPr>
        <p:grpSpPr>
          <a:xfrm rot="0">
            <a:off x="13647925" y="661418"/>
            <a:ext cx="3309765" cy="330976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blipFill>
              <a:blip r:embed="rId5"/>
              <a:stretch>
                <a:fillRect l="-27519" t="0" r="-27519" b="0"/>
              </a:stretch>
            </a:blipFill>
          </p:spPr>
        </p:sp>
        <p:sp>
          <p:nvSpPr>
            <p:cNvPr name="Freeform 11" id="11"/>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blipFill>
              <a:blip r:embed="rId3"/>
              <a:stretch>
                <a:fillRect l="0" t="0" r="0" b="0"/>
              </a:stretch>
            </a:blipFill>
          </p:spPr>
        </p:sp>
      </p:grpSp>
      <p:sp>
        <p:nvSpPr>
          <p:cNvPr name="TextBox 12" id="12"/>
          <p:cNvSpPr txBox="true"/>
          <p:nvPr/>
        </p:nvSpPr>
        <p:spPr>
          <a:xfrm rot="0">
            <a:off x="519465" y="208412"/>
            <a:ext cx="4659043"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Les Diagrammes </a:t>
            </a:r>
          </a:p>
        </p:txBody>
      </p:sp>
      <p:sp>
        <p:nvSpPr>
          <p:cNvPr name="TextBox 13" id="13"/>
          <p:cNvSpPr txBox="true"/>
          <p:nvPr/>
        </p:nvSpPr>
        <p:spPr>
          <a:xfrm rot="0">
            <a:off x="321050" y="6337952"/>
            <a:ext cx="5838295" cy="4259385"/>
          </a:xfrm>
          <a:prstGeom prst="rect">
            <a:avLst/>
          </a:prstGeom>
        </p:spPr>
        <p:txBody>
          <a:bodyPr anchor="t" rtlCol="false" tIns="0" lIns="0" bIns="0" rIns="0">
            <a:spAutoFit/>
          </a:bodyPr>
          <a:lstStyle/>
          <a:p>
            <a:pPr algn="ctr">
              <a:lnSpc>
                <a:spcPts val="3342"/>
              </a:lnSpc>
            </a:pPr>
            <a:r>
              <a:rPr lang="en-US" sz="3153" spc="116">
                <a:solidFill>
                  <a:srgbClr val="152703"/>
                </a:solidFill>
                <a:latin typeface="Clear Sans"/>
                <a:ea typeface="Clear Sans"/>
                <a:cs typeface="Clear Sans"/>
                <a:sym typeface="Clear Sans"/>
              </a:rPr>
              <a:t>• Représente la structure du système.</a:t>
            </a:r>
          </a:p>
          <a:p>
            <a:pPr algn="ctr">
              <a:lnSpc>
                <a:spcPts val="3342"/>
              </a:lnSpc>
            </a:pPr>
          </a:p>
          <a:p>
            <a:pPr algn="ctr">
              <a:lnSpc>
                <a:spcPts val="3342"/>
              </a:lnSpc>
            </a:pPr>
            <a:r>
              <a:rPr lang="en-US" sz="3153" spc="116">
                <a:solidFill>
                  <a:srgbClr val="152703"/>
                </a:solidFill>
                <a:latin typeface="Clear Sans"/>
                <a:ea typeface="Clear Sans"/>
                <a:cs typeface="Clear Sans"/>
                <a:sym typeface="Clear Sans"/>
              </a:rPr>
              <a:t>• Décrit les classes, leurs attributs et leurs méthodes.</a:t>
            </a:r>
          </a:p>
          <a:p>
            <a:pPr algn="ctr">
              <a:lnSpc>
                <a:spcPts val="3342"/>
              </a:lnSpc>
            </a:pPr>
          </a:p>
          <a:p>
            <a:pPr algn="ctr">
              <a:lnSpc>
                <a:spcPts val="3342"/>
              </a:lnSpc>
              <a:spcBef>
                <a:spcPct val="0"/>
              </a:spcBef>
            </a:pPr>
            <a:r>
              <a:rPr lang="en-US" sz="3153" spc="116">
                <a:solidFill>
                  <a:srgbClr val="152703"/>
                </a:solidFill>
                <a:latin typeface="Clear Sans"/>
                <a:ea typeface="Clear Sans"/>
                <a:cs typeface="Clear Sans"/>
                <a:sym typeface="Clear Sans"/>
              </a:rPr>
              <a:t>• Montre les relations entre les différents composants de l'application.</a:t>
            </a:r>
          </a:p>
          <a:p>
            <a:pPr algn="ctr">
              <a:lnSpc>
                <a:spcPts val="3342"/>
              </a:lnSpc>
              <a:spcBef>
                <a:spcPct val="0"/>
              </a:spcBef>
            </a:pPr>
          </a:p>
        </p:txBody>
      </p:sp>
      <p:sp>
        <p:nvSpPr>
          <p:cNvPr name="TextBox 14" id="14"/>
          <p:cNvSpPr txBox="true"/>
          <p:nvPr/>
        </p:nvSpPr>
        <p:spPr>
          <a:xfrm rot="0">
            <a:off x="6956701" y="6043625"/>
            <a:ext cx="5697578" cy="4646992"/>
          </a:xfrm>
          <a:prstGeom prst="rect">
            <a:avLst/>
          </a:prstGeom>
        </p:spPr>
        <p:txBody>
          <a:bodyPr anchor="t" rtlCol="false" tIns="0" lIns="0" bIns="0" rIns="0">
            <a:spAutoFit/>
          </a:bodyPr>
          <a:lstStyle/>
          <a:p>
            <a:pPr algn="ctr">
              <a:lnSpc>
                <a:spcPts val="3335"/>
              </a:lnSpc>
            </a:pPr>
            <a:r>
              <a:rPr lang="en-US" sz="3146" spc="116">
                <a:solidFill>
                  <a:srgbClr val="152703"/>
                </a:solidFill>
                <a:latin typeface="Clear Sans"/>
                <a:ea typeface="Clear Sans"/>
                <a:cs typeface="Clear Sans"/>
                <a:sym typeface="Clear Sans"/>
              </a:rPr>
              <a:t>• Représente les principaux acteurs du système.</a:t>
            </a:r>
          </a:p>
          <a:p>
            <a:pPr algn="ctr">
              <a:lnSpc>
                <a:spcPts val="3441"/>
              </a:lnSpc>
            </a:pPr>
          </a:p>
          <a:p>
            <a:pPr algn="ctr">
              <a:lnSpc>
                <a:spcPts val="3335"/>
              </a:lnSpc>
            </a:pPr>
            <a:r>
              <a:rPr lang="en-US" sz="3146" spc="116">
                <a:solidFill>
                  <a:srgbClr val="152703"/>
                </a:solidFill>
                <a:latin typeface="Clear Sans"/>
                <a:ea typeface="Clear Sans"/>
                <a:cs typeface="Clear Sans"/>
                <a:sym typeface="Clear Sans"/>
              </a:rPr>
              <a:t>• Montre les interactions entre les utilisateurs et l'application.</a:t>
            </a:r>
          </a:p>
          <a:p>
            <a:pPr algn="ctr">
              <a:lnSpc>
                <a:spcPts val="3441"/>
              </a:lnSpc>
            </a:pPr>
          </a:p>
          <a:p>
            <a:pPr algn="ctr">
              <a:lnSpc>
                <a:spcPts val="3335"/>
              </a:lnSpc>
              <a:spcBef>
                <a:spcPct val="0"/>
              </a:spcBef>
            </a:pPr>
            <a:r>
              <a:rPr lang="en-US" sz="3146" spc="116">
                <a:solidFill>
                  <a:srgbClr val="152703"/>
                </a:solidFill>
                <a:latin typeface="Clear Sans"/>
                <a:ea typeface="Clear Sans"/>
                <a:cs typeface="Clear Sans"/>
                <a:sym typeface="Clear Sans"/>
              </a:rPr>
              <a:t>• Permet d'identifier les fonctionnalités accessibles à chaque acteur.</a:t>
            </a:r>
          </a:p>
          <a:p>
            <a:pPr algn="ctr">
              <a:lnSpc>
                <a:spcPts val="3335"/>
              </a:lnSpc>
              <a:spcBef>
                <a:spcPct val="0"/>
              </a:spcBef>
            </a:pPr>
          </a:p>
        </p:txBody>
      </p:sp>
      <p:sp>
        <p:nvSpPr>
          <p:cNvPr name="TextBox 15" id="15"/>
          <p:cNvSpPr txBox="true"/>
          <p:nvPr/>
        </p:nvSpPr>
        <p:spPr>
          <a:xfrm rot="0">
            <a:off x="12929411" y="5666391"/>
            <a:ext cx="5071014" cy="4930947"/>
          </a:xfrm>
          <a:prstGeom prst="rect">
            <a:avLst/>
          </a:prstGeom>
        </p:spPr>
        <p:txBody>
          <a:bodyPr anchor="t" rtlCol="false" tIns="0" lIns="0" bIns="0" rIns="0">
            <a:spAutoFit/>
          </a:bodyPr>
          <a:lstStyle/>
          <a:p>
            <a:pPr algn="ctr">
              <a:lnSpc>
                <a:spcPts val="3228"/>
              </a:lnSpc>
            </a:pPr>
            <a:r>
              <a:rPr lang="en-US" sz="3045" spc="112">
                <a:solidFill>
                  <a:srgbClr val="152703"/>
                </a:solidFill>
                <a:latin typeface="Clear Sans"/>
                <a:ea typeface="Clear Sans"/>
                <a:cs typeface="Clear Sans"/>
                <a:sym typeface="Clear Sans"/>
              </a:rPr>
              <a:t>• Illustre le déroulement d'un scénario dans le temps.</a:t>
            </a:r>
          </a:p>
          <a:p>
            <a:pPr algn="ctr">
              <a:lnSpc>
                <a:spcPts val="3228"/>
              </a:lnSpc>
            </a:pPr>
          </a:p>
          <a:p>
            <a:pPr algn="ctr">
              <a:lnSpc>
                <a:spcPts val="3228"/>
              </a:lnSpc>
            </a:pPr>
            <a:r>
              <a:rPr lang="en-US" sz="3045" spc="112">
                <a:solidFill>
                  <a:srgbClr val="152703"/>
                </a:solidFill>
                <a:latin typeface="Clear Sans"/>
                <a:ea typeface="Clear Sans"/>
                <a:cs typeface="Clear Sans"/>
                <a:sym typeface="Clear Sans"/>
              </a:rPr>
              <a:t>• Montre les échanges entre les acteurs et le système.</a:t>
            </a:r>
          </a:p>
          <a:p>
            <a:pPr algn="ctr">
              <a:lnSpc>
                <a:spcPts val="3228"/>
              </a:lnSpc>
            </a:pPr>
          </a:p>
          <a:p>
            <a:pPr algn="ctr">
              <a:lnSpc>
                <a:spcPts val="3228"/>
              </a:lnSpc>
              <a:spcBef>
                <a:spcPct val="0"/>
              </a:spcBef>
            </a:pPr>
            <a:r>
              <a:rPr lang="en-US" sz="3045" spc="112">
                <a:solidFill>
                  <a:srgbClr val="152703"/>
                </a:solidFill>
                <a:latin typeface="Clear Sans"/>
                <a:ea typeface="Clear Sans"/>
                <a:cs typeface="Clear Sans"/>
                <a:sym typeface="Clear Sans"/>
              </a:rPr>
              <a:t>• Décrit les étapes du traitement d'un signalement.</a:t>
            </a:r>
          </a:p>
          <a:p>
            <a:pPr algn="ctr">
              <a:lnSpc>
                <a:spcPts val="3228"/>
              </a:lnSpc>
              <a:spcBef>
                <a:spcPct val="0"/>
              </a:spcBef>
            </a:pPr>
          </a:p>
        </p:txBody>
      </p:sp>
      <p:sp>
        <p:nvSpPr>
          <p:cNvPr name="TextBox 16" id="16"/>
          <p:cNvSpPr txBox="true"/>
          <p:nvPr/>
        </p:nvSpPr>
        <p:spPr>
          <a:xfrm rot="0">
            <a:off x="321050" y="4732882"/>
            <a:ext cx="6287443" cy="745036"/>
          </a:xfrm>
          <a:prstGeom prst="rect">
            <a:avLst/>
          </a:prstGeom>
        </p:spPr>
        <p:txBody>
          <a:bodyPr anchor="t" rtlCol="false" tIns="0" lIns="0" bIns="0" rIns="0">
            <a:spAutoFit/>
          </a:bodyPr>
          <a:lstStyle/>
          <a:p>
            <a:pPr algn="ctr">
              <a:lnSpc>
                <a:spcPts val="6157"/>
              </a:lnSpc>
            </a:pPr>
            <a:r>
              <a:rPr lang="en-US" sz="4397" b="true">
                <a:solidFill>
                  <a:srgbClr val="152703"/>
                </a:solidFill>
                <a:latin typeface="Clear Sans Medium"/>
                <a:ea typeface="Clear Sans Medium"/>
                <a:cs typeface="Clear Sans Medium"/>
                <a:sym typeface="Clear Sans Medium"/>
              </a:rPr>
              <a:t>Diagramme de classes</a:t>
            </a:r>
          </a:p>
        </p:txBody>
      </p:sp>
      <p:sp>
        <p:nvSpPr>
          <p:cNvPr name="TextBox 17" id="17"/>
          <p:cNvSpPr txBox="true"/>
          <p:nvPr/>
        </p:nvSpPr>
        <p:spPr>
          <a:xfrm rot="0">
            <a:off x="6961888" y="4395443"/>
            <a:ext cx="5967523" cy="1419913"/>
          </a:xfrm>
          <a:prstGeom prst="rect">
            <a:avLst/>
          </a:prstGeom>
        </p:spPr>
        <p:txBody>
          <a:bodyPr anchor="t" rtlCol="false" tIns="0" lIns="0" bIns="0" rIns="0">
            <a:spAutoFit/>
          </a:bodyPr>
          <a:lstStyle/>
          <a:p>
            <a:pPr algn="ctr">
              <a:lnSpc>
                <a:spcPts val="5737"/>
              </a:lnSpc>
            </a:pPr>
            <a:r>
              <a:rPr lang="en-US" sz="4097" b="true">
                <a:solidFill>
                  <a:srgbClr val="152703"/>
                </a:solidFill>
                <a:latin typeface="Clear Sans Medium"/>
                <a:ea typeface="Clear Sans Medium"/>
                <a:cs typeface="Clear Sans Medium"/>
                <a:sym typeface="Clear Sans Medium"/>
              </a:rPr>
              <a:t>Diagramme de cas d'utilisation</a:t>
            </a:r>
          </a:p>
        </p:txBody>
      </p:sp>
      <p:sp>
        <p:nvSpPr>
          <p:cNvPr name="TextBox 18" id="18"/>
          <p:cNvSpPr txBox="true"/>
          <p:nvPr/>
        </p:nvSpPr>
        <p:spPr>
          <a:xfrm rot="0">
            <a:off x="13063382" y="4025896"/>
            <a:ext cx="4803071" cy="3686556"/>
          </a:xfrm>
          <a:prstGeom prst="rect">
            <a:avLst/>
          </a:prstGeom>
        </p:spPr>
        <p:txBody>
          <a:bodyPr anchor="t" rtlCol="false" tIns="0" lIns="0" bIns="0" rIns="0">
            <a:spAutoFit/>
          </a:bodyPr>
          <a:lstStyle/>
          <a:p>
            <a:pPr algn="ctr">
              <a:lnSpc>
                <a:spcPts val="5848"/>
              </a:lnSpc>
            </a:pPr>
            <a:r>
              <a:rPr lang="en-US" sz="4177" b="true">
                <a:solidFill>
                  <a:srgbClr val="152703"/>
                </a:solidFill>
                <a:latin typeface="Clear Sans Medium"/>
                <a:ea typeface="Clear Sans Medium"/>
                <a:cs typeface="Clear Sans Medium"/>
                <a:sym typeface="Clear Sans Medium"/>
              </a:rPr>
              <a:t>Diagramme de séquence</a:t>
            </a:r>
          </a:p>
          <a:p>
            <a:pPr algn="ctr">
              <a:lnSpc>
                <a:spcPts val="5848"/>
              </a:lnSpc>
            </a:pPr>
          </a:p>
          <a:p>
            <a:pPr algn="ctr">
              <a:lnSpc>
                <a:spcPts val="5848"/>
              </a:lnSpc>
            </a:pPr>
          </a:p>
          <a:p>
            <a:pPr algn="ctr">
              <a:lnSpc>
                <a:spcPts val="584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2951434" y="4888449"/>
            <a:ext cx="8795209"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12642963" y="488844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24792" y="3075758"/>
            <a:ext cx="1484664" cy="1115568"/>
          </a:xfrm>
          <a:prstGeom prst="rect">
            <a:avLst/>
          </a:prstGeom>
        </p:spPr>
        <p:txBody>
          <a:bodyPr anchor="t" rtlCol="false" tIns="0" lIns="0" bIns="0" rIns="0">
            <a:spAutoFit/>
          </a:bodyPr>
          <a:lstStyle/>
          <a:p>
            <a:pPr algn="l" marL="0" indent="0" lvl="0">
              <a:lnSpc>
                <a:spcPts val="8586"/>
              </a:lnSpc>
            </a:pPr>
            <a:r>
              <a:rPr lang="en-US" b="true" sz="8100" spc="299">
                <a:solidFill>
                  <a:srgbClr val="152703"/>
                </a:solidFill>
                <a:latin typeface="Clear Sans Bold"/>
                <a:ea typeface="Clear Sans Bold"/>
                <a:cs typeface="Clear Sans Bold"/>
                <a:sym typeface="Clear Sans Bold"/>
              </a:rPr>
              <a:t>03</a:t>
            </a:r>
          </a:p>
        </p:txBody>
      </p:sp>
      <p:sp>
        <p:nvSpPr>
          <p:cNvPr name="TextBox 5" id="5"/>
          <p:cNvSpPr txBox="true"/>
          <p:nvPr/>
        </p:nvSpPr>
        <p:spPr>
          <a:xfrm rot="0">
            <a:off x="2646674" y="3452567"/>
            <a:ext cx="12155773" cy="1184598"/>
          </a:xfrm>
          <a:prstGeom prst="rect">
            <a:avLst/>
          </a:prstGeom>
        </p:spPr>
        <p:txBody>
          <a:bodyPr anchor="t" rtlCol="false" tIns="0" lIns="0" bIns="0" rIns="0">
            <a:spAutoFit/>
          </a:bodyPr>
          <a:lstStyle/>
          <a:p>
            <a:pPr algn="l">
              <a:lnSpc>
                <a:spcPts val="9782"/>
              </a:lnSpc>
            </a:pPr>
            <a:r>
              <a:rPr lang="en-US" sz="6987" b="true">
                <a:solidFill>
                  <a:srgbClr val="152703"/>
                </a:solidFill>
                <a:latin typeface="Clear Sans Medium"/>
                <a:ea typeface="Clear Sans Medium"/>
                <a:cs typeface="Clear Sans Medium"/>
                <a:sym typeface="Clear Sans Medium"/>
              </a:rPr>
              <a:t>Architecture et technologies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TextBox 2" id="2"/>
          <p:cNvSpPr txBox="true"/>
          <p:nvPr/>
        </p:nvSpPr>
        <p:spPr>
          <a:xfrm rot="0">
            <a:off x="1331933" y="1721331"/>
            <a:ext cx="15624133" cy="8565669"/>
          </a:xfrm>
          <a:prstGeom prst="rect">
            <a:avLst/>
          </a:prstGeom>
        </p:spPr>
        <p:txBody>
          <a:bodyPr anchor="t" rtlCol="false" tIns="0" lIns="0" bIns="0" rIns="0">
            <a:spAutoFit/>
          </a:bodyPr>
          <a:lstStyle/>
          <a:p>
            <a:pPr algn="l">
              <a:lnSpc>
                <a:spcPts val="4302"/>
              </a:lnSpc>
            </a:pPr>
            <a:r>
              <a:rPr lang="en-US" sz="4058" spc="150">
                <a:solidFill>
                  <a:srgbClr val="152703"/>
                </a:solidFill>
                <a:latin typeface="Clear Sans"/>
                <a:ea typeface="Clear Sans"/>
                <a:cs typeface="Clear Sans"/>
                <a:sym typeface="Clear Sans"/>
              </a:rPr>
              <a:t>L'architecture de UrbanClean repose sur trois couches principales :</a:t>
            </a:r>
          </a:p>
          <a:p>
            <a:pPr algn="l">
              <a:lnSpc>
                <a:spcPts val="4302"/>
              </a:lnSpc>
            </a:pPr>
          </a:p>
          <a:p>
            <a:pPr algn="l">
              <a:lnSpc>
                <a:spcPts val="4302"/>
              </a:lnSpc>
            </a:pPr>
            <a:r>
              <a:rPr lang="en-US" sz="4058" spc="150">
                <a:solidFill>
                  <a:srgbClr val="152703"/>
                </a:solidFill>
                <a:latin typeface="Clear Sans"/>
                <a:ea typeface="Clear Sans"/>
                <a:cs typeface="Clear Sans"/>
                <a:sym typeface="Clear Sans"/>
              </a:rPr>
              <a:t>• Front-end : développé avec React.js pour l'interface utilisateur.</a:t>
            </a:r>
          </a:p>
          <a:p>
            <a:pPr algn="l">
              <a:lnSpc>
                <a:spcPts val="4302"/>
              </a:lnSpc>
            </a:pPr>
          </a:p>
          <a:p>
            <a:pPr algn="l">
              <a:lnSpc>
                <a:spcPts val="4302"/>
              </a:lnSpc>
            </a:pPr>
            <a:r>
              <a:rPr lang="en-US" sz="4058" spc="150">
                <a:solidFill>
                  <a:srgbClr val="152703"/>
                </a:solidFill>
                <a:latin typeface="Clear Sans"/>
                <a:ea typeface="Clear Sans"/>
                <a:cs typeface="Clear Sans"/>
                <a:sym typeface="Clear Sans"/>
              </a:rPr>
              <a:t>• Back-end : assuré par Firebase pour l'authentification, les notifications et la logique métier.</a:t>
            </a:r>
          </a:p>
          <a:p>
            <a:pPr algn="l">
              <a:lnSpc>
                <a:spcPts val="4302"/>
              </a:lnSpc>
            </a:pPr>
          </a:p>
          <a:p>
            <a:pPr algn="l">
              <a:lnSpc>
                <a:spcPts val="4302"/>
              </a:lnSpc>
            </a:pPr>
            <a:r>
              <a:rPr lang="en-US" sz="4058" spc="150">
                <a:solidFill>
                  <a:srgbClr val="152703"/>
                </a:solidFill>
                <a:latin typeface="Clear Sans"/>
                <a:ea typeface="Clear Sans"/>
                <a:cs typeface="Clear Sans"/>
                <a:sym typeface="Clear Sans"/>
              </a:rPr>
              <a:t>• Base de données : Firebase Firestore pour le stockage et la synchronisation des données en temps réel.</a:t>
            </a:r>
          </a:p>
          <a:p>
            <a:pPr algn="l">
              <a:lnSpc>
                <a:spcPts val="4302"/>
              </a:lnSpc>
            </a:pPr>
          </a:p>
          <a:p>
            <a:pPr algn="l">
              <a:lnSpc>
                <a:spcPts val="4302"/>
              </a:lnSpc>
              <a:spcBef>
                <a:spcPct val="0"/>
              </a:spcBef>
            </a:pPr>
            <a:r>
              <a:rPr lang="en-US" sz="4058" spc="150">
                <a:solidFill>
                  <a:srgbClr val="152703"/>
                </a:solidFill>
                <a:latin typeface="Clear Sans"/>
                <a:ea typeface="Clear Sans"/>
                <a:cs typeface="Clear Sans"/>
                <a:sym typeface="Clear Sans"/>
              </a:rPr>
              <a:t>Cette architecture permet une communication fluide entre les utilisateurs et le système tout en garantissant de bonnes performances et une gestion centralisée des données.</a:t>
            </a:r>
          </a:p>
          <a:p>
            <a:pPr algn="l">
              <a:lnSpc>
                <a:spcPts val="4302"/>
              </a:lnSpc>
              <a:spcBef>
                <a:spcPct val="0"/>
              </a:spcBef>
            </a:pPr>
          </a:p>
        </p:txBody>
      </p:sp>
      <p:sp>
        <p:nvSpPr>
          <p:cNvPr name="AutoShape 3" id="3"/>
          <p:cNvSpPr/>
          <p:nvPr/>
        </p:nvSpPr>
        <p:spPr>
          <a:xfrm>
            <a:off x="7487038" y="1347529"/>
            <a:ext cx="2887553" cy="0"/>
          </a:xfrm>
          <a:prstGeom prst="line">
            <a:avLst/>
          </a:prstGeom>
          <a:ln cap="flat" w="76200">
            <a:solidFill>
              <a:srgbClr val="3C690D"/>
            </a:solidFill>
            <a:prstDash val="solid"/>
            <a:headEnd type="none" len="sm" w="sm"/>
            <a:tailEnd type="none" len="sm" w="sm"/>
          </a:ln>
        </p:spPr>
      </p:sp>
      <p:sp>
        <p:nvSpPr>
          <p:cNvPr name="Freeform 4" id="4"/>
          <p:cNvSpPr/>
          <p:nvPr/>
        </p:nvSpPr>
        <p:spPr>
          <a:xfrm flipH="false" flipV="false" rot="0">
            <a:off x="15335341" y="609810"/>
            <a:ext cx="2195658" cy="2127792"/>
          </a:xfrm>
          <a:custGeom>
            <a:avLst/>
            <a:gdLst/>
            <a:ahLst/>
            <a:cxnLst/>
            <a:rect r="r" b="b" t="t" l="l"/>
            <a:pathLst>
              <a:path h="2127792" w="2195658">
                <a:moveTo>
                  <a:pt x="0" y="0"/>
                </a:moveTo>
                <a:lnTo>
                  <a:pt x="2195658" y="0"/>
                </a:lnTo>
                <a:lnTo>
                  <a:pt x="2195658" y="2127792"/>
                </a:lnTo>
                <a:lnTo>
                  <a:pt x="0" y="21277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25805" y="436519"/>
            <a:ext cx="1205790" cy="1184362"/>
          </a:xfrm>
          <a:custGeom>
            <a:avLst/>
            <a:gdLst/>
            <a:ahLst/>
            <a:cxnLst/>
            <a:rect r="r" b="b" t="t" l="l"/>
            <a:pathLst>
              <a:path h="1184362" w="1205790">
                <a:moveTo>
                  <a:pt x="0" y="0"/>
                </a:moveTo>
                <a:lnTo>
                  <a:pt x="1205790" y="0"/>
                </a:lnTo>
                <a:lnTo>
                  <a:pt x="1205790" y="1184362"/>
                </a:lnTo>
                <a:lnTo>
                  <a:pt x="0" y="1184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433170" y="5143500"/>
            <a:ext cx="1229041" cy="1442568"/>
          </a:xfrm>
          <a:custGeom>
            <a:avLst/>
            <a:gdLst/>
            <a:ahLst/>
            <a:cxnLst/>
            <a:rect r="r" b="b" t="t" l="l"/>
            <a:pathLst>
              <a:path h="1442568" w="1229041">
                <a:moveTo>
                  <a:pt x="0" y="0"/>
                </a:moveTo>
                <a:lnTo>
                  <a:pt x="1229041" y="0"/>
                </a:lnTo>
                <a:lnTo>
                  <a:pt x="1229041" y="1442568"/>
                </a:lnTo>
                <a:lnTo>
                  <a:pt x="0" y="14425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5908654" y="208412"/>
            <a:ext cx="6470692"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Architecture Générale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1658784" y="1066800"/>
            <a:ext cx="5059297" cy="0"/>
          </a:xfrm>
          <a:prstGeom prst="line">
            <a:avLst/>
          </a:prstGeom>
          <a:ln cap="flat" w="76200">
            <a:solidFill>
              <a:srgbClr val="3C690D"/>
            </a:solidFill>
            <a:prstDash val="solid"/>
            <a:headEnd type="none" len="sm" w="sm"/>
            <a:tailEnd type="none" len="sm" w="sm"/>
          </a:ln>
        </p:spPr>
      </p:sp>
      <p:sp>
        <p:nvSpPr>
          <p:cNvPr name="TextBox 3" id="3"/>
          <p:cNvSpPr txBox="true"/>
          <p:nvPr/>
        </p:nvSpPr>
        <p:spPr>
          <a:xfrm rot="0">
            <a:off x="843587" y="208412"/>
            <a:ext cx="6689691"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Technologies utilisées</a:t>
            </a:r>
          </a:p>
        </p:txBody>
      </p:sp>
      <p:sp>
        <p:nvSpPr>
          <p:cNvPr name="TextBox 4" id="4"/>
          <p:cNvSpPr txBox="true"/>
          <p:nvPr/>
        </p:nvSpPr>
        <p:spPr>
          <a:xfrm rot="0">
            <a:off x="405245" y="718568"/>
            <a:ext cx="15670680" cy="8467819"/>
          </a:xfrm>
          <a:prstGeom prst="rect">
            <a:avLst/>
          </a:prstGeom>
        </p:spPr>
        <p:txBody>
          <a:bodyPr anchor="t" rtlCol="false" tIns="0" lIns="0" bIns="0" rIns="0">
            <a:spAutoFit/>
          </a:bodyPr>
          <a:lstStyle/>
          <a:p>
            <a:pPr algn="l">
              <a:lnSpc>
                <a:spcPts val="4495"/>
              </a:lnSpc>
            </a:pPr>
          </a:p>
          <a:p>
            <a:pPr algn="l">
              <a:lnSpc>
                <a:spcPts val="4495"/>
              </a:lnSpc>
            </a:pPr>
            <a:r>
              <a:rPr lang="en-US" sz="4241" spc="156">
                <a:solidFill>
                  <a:srgbClr val="152703"/>
                </a:solidFill>
                <a:latin typeface="Clear Sans"/>
                <a:ea typeface="Clear Sans"/>
                <a:cs typeface="Clear Sans"/>
                <a:sym typeface="Clear Sans"/>
              </a:rPr>
              <a:t>• React.js : Développement de l'interface utilisateur.</a:t>
            </a:r>
          </a:p>
          <a:p>
            <a:pPr algn="l">
              <a:lnSpc>
                <a:spcPts val="4495"/>
              </a:lnSpc>
            </a:pPr>
            <a:r>
              <a:rPr lang="en-US" sz="4241" spc="156">
                <a:solidFill>
                  <a:srgbClr val="152703"/>
                </a:solidFill>
                <a:latin typeface="Clear Sans"/>
                <a:ea typeface="Clear Sans"/>
                <a:cs typeface="Clear Sans"/>
                <a:sym typeface="Clear Sans"/>
              </a:rPr>
              <a:t>• JavaScript : Développement de la logique de l'application.</a:t>
            </a:r>
          </a:p>
          <a:p>
            <a:pPr algn="l">
              <a:lnSpc>
                <a:spcPts val="4495"/>
              </a:lnSpc>
            </a:pPr>
            <a:r>
              <a:rPr lang="en-US" sz="4241" spc="156">
                <a:solidFill>
                  <a:srgbClr val="152703"/>
                </a:solidFill>
                <a:latin typeface="Clear Sans"/>
                <a:ea typeface="Clear Sans"/>
                <a:cs typeface="Clear Sans"/>
                <a:sym typeface="Clear Sans"/>
              </a:rPr>
              <a:t>• Firebase Authentication : Gestion de l'authentification.</a:t>
            </a:r>
          </a:p>
          <a:p>
            <a:pPr algn="l">
              <a:lnSpc>
                <a:spcPts val="4495"/>
              </a:lnSpc>
            </a:pPr>
            <a:r>
              <a:rPr lang="en-US" sz="4241" spc="156">
                <a:solidFill>
                  <a:srgbClr val="152703"/>
                </a:solidFill>
                <a:latin typeface="Clear Sans"/>
                <a:ea typeface="Clear Sans"/>
                <a:cs typeface="Clear Sans"/>
                <a:sym typeface="Clear Sans"/>
              </a:rPr>
              <a:t>• Firebase Firestore : Stockage et synchronisation des données.</a:t>
            </a:r>
          </a:p>
          <a:p>
            <a:pPr algn="l">
              <a:lnSpc>
                <a:spcPts val="4495"/>
              </a:lnSpc>
            </a:pPr>
            <a:r>
              <a:rPr lang="en-US" sz="4241" spc="156">
                <a:solidFill>
                  <a:srgbClr val="152703"/>
                </a:solidFill>
                <a:latin typeface="Clear Sans"/>
                <a:ea typeface="Clear Sans"/>
                <a:cs typeface="Clear Sans"/>
                <a:sym typeface="Clear Sans"/>
              </a:rPr>
              <a:t>• Firebase Hosting : Hébergement de l'application.</a:t>
            </a:r>
          </a:p>
          <a:p>
            <a:pPr algn="l">
              <a:lnSpc>
                <a:spcPts val="4495"/>
              </a:lnSpc>
            </a:pPr>
            <a:r>
              <a:rPr lang="en-US" sz="4241" spc="156">
                <a:solidFill>
                  <a:srgbClr val="152703"/>
                </a:solidFill>
                <a:latin typeface="Clear Sans"/>
                <a:ea typeface="Clear Sans"/>
                <a:cs typeface="Clear Sans"/>
                <a:sym typeface="Clear Sans"/>
              </a:rPr>
              <a:t>• Leaflet &amp; OpenStreetMap : Cartographie et géolocalisation.</a:t>
            </a:r>
          </a:p>
          <a:p>
            <a:pPr algn="l">
              <a:lnSpc>
                <a:spcPts val="4495"/>
              </a:lnSpc>
            </a:pPr>
            <a:r>
              <a:rPr lang="en-US" sz="4241" spc="156">
                <a:solidFill>
                  <a:srgbClr val="152703"/>
                </a:solidFill>
                <a:latin typeface="Clear Sans"/>
                <a:ea typeface="Clear Sans"/>
                <a:cs typeface="Clear Sans"/>
                <a:sym typeface="Clear Sans"/>
              </a:rPr>
              <a:t>• HTML5 &amp; CSS3 : Structure et mise en forme des interfaces.</a:t>
            </a:r>
          </a:p>
          <a:p>
            <a:pPr algn="l">
              <a:lnSpc>
                <a:spcPts val="4495"/>
              </a:lnSpc>
            </a:pPr>
            <a:r>
              <a:rPr lang="en-US" sz="4241" spc="156">
                <a:solidFill>
                  <a:srgbClr val="152703"/>
                </a:solidFill>
                <a:latin typeface="Clear Sans"/>
                <a:ea typeface="Clear Sans"/>
                <a:cs typeface="Clear Sans"/>
                <a:sym typeface="Clear Sans"/>
              </a:rPr>
              <a:t>• i18next : Gestion du multilinguisme.</a:t>
            </a:r>
          </a:p>
          <a:p>
            <a:pPr algn="l">
              <a:lnSpc>
                <a:spcPts val="4495"/>
              </a:lnSpc>
              <a:spcBef>
                <a:spcPct val="0"/>
              </a:spcBef>
            </a:pPr>
            <a:r>
              <a:rPr lang="en-US" sz="4241" spc="156">
                <a:solidFill>
                  <a:srgbClr val="152703"/>
                </a:solidFill>
                <a:latin typeface="Clear Sans"/>
                <a:ea typeface="Clear Sans"/>
                <a:cs typeface="Clear Sans"/>
                <a:sym typeface="Clear Sans"/>
              </a:rPr>
              <a:t>• EmailJS : Envoi des messages depuis le formulaire de contact.</a:t>
            </a:r>
          </a:p>
          <a:p>
            <a:pPr algn="l">
              <a:lnSpc>
                <a:spcPts val="4601"/>
              </a:lnSpc>
              <a:spcBef>
                <a:spcPct val="0"/>
              </a:spcBef>
            </a:pPr>
          </a:p>
        </p:txBody>
      </p:sp>
      <p:sp>
        <p:nvSpPr>
          <p:cNvPr name="Freeform 5" id="5"/>
          <p:cNvSpPr/>
          <p:nvPr/>
        </p:nvSpPr>
        <p:spPr>
          <a:xfrm flipH="false" flipV="false" rot="0">
            <a:off x="14010596" y="2378031"/>
            <a:ext cx="5684691" cy="5530938"/>
          </a:xfrm>
          <a:custGeom>
            <a:avLst/>
            <a:gdLst/>
            <a:ahLst/>
            <a:cxnLst/>
            <a:rect r="r" b="b" t="t" l="l"/>
            <a:pathLst>
              <a:path h="5530938" w="5684691">
                <a:moveTo>
                  <a:pt x="0" y="0"/>
                </a:moveTo>
                <a:lnTo>
                  <a:pt x="5684691" y="0"/>
                </a:lnTo>
                <a:lnTo>
                  <a:pt x="5684691" y="5530938"/>
                </a:lnTo>
                <a:lnTo>
                  <a:pt x="0" y="55309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2951434" y="4888449"/>
            <a:ext cx="8795209"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12642963" y="488844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24792" y="3075758"/>
            <a:ext cx="1484664" cy="1115568"/>
          </a:xfrm>
          <a:prstGeom prst="rect">
            <a:avLst/>
          </a:prstGeom>
        </p:spPr>
        <p:txBody>
          <a:bodyPr anchor="t" rtlCol="false" tIns="0" lIns="0" bIns="0" rIns="0">
            <a:spAutoFit/>
          </a:bodyPr>
          <a:lstStyle/>
          <a:p>
            <a:pPr algn="l" marL="0" indent="0" lvl="0">
              <a:lnSpc>
                <a:spcPts val="8586"/>
              </a:lnSpc>
            </a:pPr>
            <a:r>
              <a:rPr lang="en-US" b="true" sz="8100" spc="299">
                <a:solidFill>
                  <a:srgbClr val="152703"/>
                </a:solidFill>
                <a:latin typeface="Clear Sans Bold"/>
                <a:ea typeface="Clear Sans Bold"/>
                <a:cs typeface="Clear Sans Bold"/>
                <a:sym typeface="Clear Sans Bold"/>
              </a:rPr>
              <a:t>04</a:t>
            </a:r>
          </a:p>
        </p:txBody>
      </p:sp>
      <p:sp>
        <p:nvSpPr>
          <p:cNvPr name="TextBox 5" id="5"/>
          <p:cNvSpPr txBox="true"/>
          <p:nvPr/>
        </p:nvSpPr>
        <p:spPr>
          <a:xfrm rot="0">
            <a:off x="2646674" y="3452567"/>
            <a:ext cx="12155773" cy="1184598"/>
          </a:xfrm>
          <a:prstGeom prst="rect">
            <a:avLst/>
          </a:prstGeom>
        </p:spPr>
        <p:txBody>
          <a:bodyPr anchor="t" rtlCol="false" tIns="0" lIns="0" bIns="0" rIns="0">
            <a:spAutoFit/>
          </a:bodyPr>
          <a:lstStyle/>
          <a:p>
            <a:pPr algn="l">
              <a:lnSpc>
                <a:spcPts val="9782"/>
              </a:lnSpc>
            </a:pPr>
            <a:r>
              <a:rPr lang="en-US" sz="6987" b="true">
                <a:solidFill>
                  <a:srgbClr val="152703"/>
                </a:solidFill>
                <a:latin typeface="Clear Sans Medium"/>
                <a:ea typeface="Clear Sans Medium"/>
                <a:cs typeface="Clear Sans Medium"/>
                <a:sym typeface="Clear Sans Medium"/>
              </a:rPr>
              <a:t>Réalisation et démonstration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5118417" y="1595301"/>
            <a:ext cx="5059297" cy="0"/>
          </a:xfrm>
          <a:prstGeom prst="line">
            <a:avLst/>
          </a:prstGeom>
          <a:ln cap="flat" w="76200">
            <a:solidFill>
              <a:srgbClr val="3C690D"/>
            </a:solidFill>
            <a:prstDash val="solid"/>
            <a:headEnd type="none" len="sm" w="sm"/>
            <a:tailEnd type="none" len="sm" w="sm"/>
          </a:ln>
        </p:spPr>
      </p:sp>
      <p:sp>
        <p:nvSpPr>
          <p:cNvPr name="TextBox 3" id="3"/>
          <p:cNvSpPr txBox="true"/>
          <p:nvPr/>
        </p:nvSpPr>
        <p:spPr>
          <a:xfrm rot="0">
            <a:off x="1935543" y="2395496"/>
            <a:ext cx="13435379" cy="7891504"/>
          </a:xfrm>
          <a:prstGeom prst="rect">
            <a:avLst/>
          </a:prstGeom>
        </p:spPr>
        <p:txBody>
          <a:bodyPr anchor="t" rtlCol="false" tIns="0" lIns="0" bIns="0" rIns="0">
            <a:spAutoFit/>
          </a:bodyPr>
          <a:lstStyle/>
          <a:p>
            <a:pPr algn="l">
              <a:lnSpc>
                <a:spcPts val="3970"/>
              </a:lnSpc>
            </a:pPr>
            <a:r>
              <a:rPr lang="en-US" sz="3745" spc="138">
                <a:solidFill>
                  <a:srgbClr val="152703"/>
                </a:solidFill>
                <a:latin typeface="Clear Sans"/>
                <a:ea typeface="Clear Sans"/>
                <a:cs typeface="Clear Sans"/>
                <a:sym typeface="Clear Sans"/>
              </a:rPr>
              <a:t>• Authentification et gestion des utilisateurs.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Création et suivi des signalements.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Géolocalisation et cartographie interactive.</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Affectation et gestion des interventions.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Système de notifications.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Tableau de bord et statistiques.</a:t>
            </a:r>
          </a:p>
          <a:p>
            <a:pPr algn="l">
              <a:lnSpc>
                <a:spcPts val="3970"/>
              </a:lnSpc>
            </a:pPr>
          </a:p>
          <a:p>
            <a:pPr algn="l">
              <a:lnSpc>
                <a:spcPts val="3970"/>
              </a:lnSpc>
            </a:pPr>
            <a:r>
              <a:rPr lang="en-US" sz="3745" spc="138">
                <a:solidFill>
                  <a:srgbClr val="152703"/>
                </a:solidFill>
                <a:latin typeface="Clear Sans"/>
                <a:ea typeface="Clear Sans"/>
                <a:cs typeface="Clear Sans"/>
                <a:sym typeface="Clear Sans"/>
              </a:rPr>
              <a:t>• Gestion des tournées d'intervention.</a:t>
            </a:r>
          </a:p>
          <a:p>
            <a:pPr algn="l">
              <a:lnSpc>
                <a:spcPts val="3970"/>
              </a:lnSpc>
            </a:pPr>
          </a:p>
          <a:p>
            <a:pPr algn="l">
              <a:lnSpc>
                <a:spcPts val="3970"/>
              </a:lnSpc>
              <a:spcBef>
                <a:spcPct val="0"/>
              </a:spcBef>
            </a:pPr>
            <a:r>
              <a:rPr lang="en-US" sz="3745" spc="138">
                <a:solidFill>
                  <a:srgbClr val="152703"/>
                </a:solidFill>
                <a:latin typeface="Clear Sans"/>
                <a:ea typeface="Clear Sans"/>
                <a:cs typeface="Clear Sans"/>
                <a:sym typeface="Clear Sans"/>
              </a:rPr>
              <a:t>• Mode clair / mode sombre et multilinguisme.</a:t>
            </a:r>
          </a:p>
          <a:p>
            <a:pPr algn="l">
              <a:lnSpc>
                <a:spcPts val="3970"/>
              </a:lnSpc>
              <a:spcBef>
                <a:spcPct val="0"/>
              </a:spcBef>
            </a:pPr>
          </a:p>
        </p:txBody>
      </p:sp>
      <p:sp>
        <p:nvSpPr>
          <p:cNvPr name="Freeform 4" id="4"/>
          <p:cNvSpPr/>
          <p:nvPr/>
        </p:nvSpPr>
        <p:spPr>
          <a:xfrm flipH="false" flipV="false" rot="0">
            <a:off x="11931063" y="4712131"/>
            <a:ext cx="6043411" cy="4329280"/>
          </a:xfrm>
          <a:custGeom>
            <a:avLst/>
            <a:gdLst/>
            <a:ahLst/>
            <a:cxnLst/>
            <a:rect r="r" b="b" t="t" l="l"/>
            <a:pathLst>
              <a:path h="4329280" w="6043411">
                <a:moveTo>
                  <a:pt x="0" y="0"/>
                </a:moveTo>
                <a:lnTo>
                  <a:pt x="6043411" y="0"/>
                </a:lnTo>
                <a:lnTo>
                  <a:pt x="6043411" y="4329280"/>
                </a:lnTo>
                <a:lnTo>
                  <a:pt x="0" y="43292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090679" y="527360"/>
            <a:ext cx="8134972"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Fonctionnalités principales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4236527" y="4953529"/>
            <a:ext cx="8630811" cy="0"/>
          </a:xfrm>
          <a:prstGeom prst="line">
            <a:avLst/>
          </a:prstGeom>
          <a:ln cap="flat" w="76200">
            <a:solidFill>
              <a:srgbClr val="3C690D"/>
            </a:solidFill>
            <a:prstDash val="solid"/>
            <a:headEnd type="none" len="sm" w="sm"/>
            <a:tailEnd type="none" len="sm" w="sm"/>
          </a:ln>
        </p:spPr>
      </p:sp>
      <p:sp>
        <p:nvSpPr>
          <p:cNvPr name="Freeform 3" id="3"/>
          <p:cNvSpPr/>
          <p:nvPr/>
        </p:nvSpPr>
        <p:spPr>
          <a:xfrm flipH="false" flipV="false" rot="0">
            <a:off x="14385571" y="5310368"/>
            <a:ext cx="3288460" cy="4304771"/>
          </a:xfrm>
          <a:custGeom>
            <a:avLst/>
            <a:gdLst/>
            <a:ahLst/>
            <a:cxnLst/>
            <a:rect r="r" b="b" t="t" l="l"/>
            <a:pathLst>
              <a:path h="4304771" w="3288460">
                <a:moveTo>
                  <a:pt x="0" y="0"/>
                </a:moveTo>
                <a:lnTo>
                  <a:pt x="3288460" y="0"/>
                </a:lnTo>
                <a:lnTo>
                  <a:pt x="3288460" y="4304771"/>
                </a:lnTo>
                <a:lnTo>
                  <a:pt x="0" y="4304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874810" y="3892575"/>
            <a:ext cx="9636930" cy="1060954"/>
          </a:xfrm>
          <a:prstGeom prst="rect">
            <a:avLst/>
          </a:prstGeom>
        </p:spPr>
        <p:txBody>
          <a:bodyPr anchor="t" rtlCol="false" tIns="0" lIns="0" bIns="0" rIns="0">
            <a:spAutoFit/>
          </a:bodyPr>
          <a:lstStyle/>
          <a:p>
            <a:pPr algn="l">
              <a:lnSpc>
                <a:spcPts val="8722"/>
              </a:lnSpc>
            </a:pPr>
            <a:r>
              <a:rPr lang="en-US" sz="6230" b="true">
                <a:solidFill>
                  <a:srgbClr val="152703"/>
                </a:solidFill>
                <a:latin typeface="Clear Sans Medium"/>
                <a:ea typeface="Clear Sans Medium"/>
                <a:cs typeface="Clear Sans Medium"/>
                <a:sym typeface="Clear Sans Medium"/>
              </a:rPr>
              <a:t>Exécution de l'application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2951434" y="4888449"/>
            <a:ext cx="8795209"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12642963" y="488844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24792" y="3075758"/>
            <a:ext cx="1484664" cy="1115568"/>
          </a:xfrm>
          <a:prstGeom prst="rect">
            <a:avLst/>
          </a:prstGeom>
        </p:spPr>
        <p:txBody>
          <a:bodyPr anchor="t" rtlCol="false" tIns="0" lIns="0" bIns="0" rIns="0">
            <a:spAutoFit/>
          </a:bodyPr>
          <a:lstStyle/>
          <a:p>
            <a:pPr algn="l" marL="0" indent="0" lvl="0">
              <a:lnSpc>
                <a:spcPts val="8586"/>
              </a:lnSpc>
            </a:pPr>
            <a:r>
              <a:rPr lang="en-US" b="true" sz="8100" spc="299">
                <a:solidFill>
                  <a:srgbClr val="152703"/>
                </a:solidFill>
                <a:latin typeface="Clear Sans Bold"/>
                <a:ea typeface="Clear Sans Bold"/>
                <a:cs typeface="Clear Sans Bold"/>
                <a:sym typeface="Clear Sans Bold"/>
              </a:rPr>
              <a:t>05</a:t>
            </a:r>
          </a:p>
        </p:txBody>
      </p:sp>
      <p:sp>
        <p:nvSpPr>
          <p:cNvPr name="TextBox 5" id="5"/>
          <p:cNvSpPr txBox="true"/>
          <p:nvPr/>
        </p:nvSpPr>
        <p:spPr>
          <a:xfrm rot="0">
            <a:off x="2646674" y="3452567"/>
            <a:ext cx="12155773" cy="1184598"/>
          </a:xfrm>
          <a:prstGeom prst="rect">
            <a:avLst/>
          </a:prstGeom>
        </p:spPr>
        <p:txBody>
          <a:bodyPr anchor="t" rtlCol="false" tIns="0" lIns="0" bIns="0" rIns="0">
            <a:spAutoFit/>
          </a:bodyPr>
          <a:lstStyle/>
          <a:p>
            <a:pPr algn="l">
              <a:lnSpc>
                <a:spcPts val="9782"/>
              </a:lnSpc>
            </a:pPr>
            <a:r>
              <a:rPr lang="en-US" sz="6987" b="true">
                <a:solidFill>
                  <a:srgbClr val="152703"/>
                </a:solidFill>
                <a:latin typeface="Clear Sans Medium"/>
                <a:ea typeface="Clear Sans Medium"/>
                <a:cs typeface="Clear Sans Medium"/>
                <a:sym typeface="Clear Sans Medium"/>
              </a:rPr>
              <a:t>Conclusion et perspectives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572779" y="475280"/>
            <a:ext cx="1782154" cy="1680110"/>
            <a:chOff x="0" y="0"/>
            <a:chExt cx="276102" cy="260293"/>
          </a:xfrm>
        </p:grpSpPr>
        <p:sp>
          <p:nvSpPr>
            <p:cNvPr name="Freeform 3" id="3"/>
            <p:cNvSpPr/>
            <p:nvPr/>
          </p:nvSpPr>
          <p:spPr>
            <a:xfrm flipH="false" flipV="false" rot="0">
              <a:off x="0" y="0"/>
              <a:ext cx="276102" cy="260293"/>
            </a:xfrm>
            <a:custGeom>
              <a:avLst/>
              <a:gdLst/>
              <a:ahLst/>
              <a:cxnLst/>
              <a:rect r="r" b="b" t="t" l="l"/>
              <a:pathLst>
                <a:path h="260293" w="276102">
                  <a:moveTo>
                    <a:pt x="138051" y="0"/>
                  </a:moveTo>
                  <a:cubicBezTo>
                    <a:pt x="61808" y="0"/>
                    <a:pt x="0" y="58269"/>
                    <a:pt x="0" y="130147"/>
                  </a:cubicBezTo>
                  <a:cubicBezTo>
                    <a:pt x="0" y="202024"/>
                    <a:pt x="61808" y="260293"/>
                    <a:pt x="138051" y="260293"/>
                  </a:cubicBezTo>
                  <a:cubicBezTo>
                    <a:pt x="214295" y="260293"/>
                    <a:pt x="276102" y="202024"/>
                    <a:pt x="276102" y="130147"/>
                  </a:cubicBezTo>
                  <a:cubicBezTo>
                    <a:pt x="276102" y="58269"/>
                    <a:pt x="214295" y="0"/>
                    <a:pt x="138051" y="0"/>
                  </a:cubicBezTo>
                  <a:close/>
                </a:path>
              </a:pathLst>
            </a:custGeom>
            <a:blipFill>
              <a:blip r:embed="rId2"/>
              <a:stretch>
                <a:fillRect l="0" t="-3036" r="0" b="-3036"/>
              </a:stretch>
            </a:blipFill>
          </p:spPr>
        </p:sp>
      </p:grpSp>
      <p:sp>
        <p:nvSpPr>
          <p:cNvPr name="TextBox 4" id="4"/>
          <p:cNvSpPr txBox="true"/>
          <p:nvPr/>
        </p:nvSpPr>
        <p:spPr>
          <a:xfrm rot="0">
            <a:off x="2600006" y="2828894"/>
            <a:ext cx="15687994" cy="4111797"/>
          </a:xfrm>
          <a:prstGeom prst="rect">
            <a:avLst/>
          </a:prstGeom>
        </p:spPr>
        <p:txBody>
          <a:bodyPr anchor="t" rtlCol="false" tIns="0" lIns="0" bIns="0" rIns="0">
            <a:spAutoFit/>
          </a:bodyPr>
          <a:lstStyle/>
          <a:p>
            <a:pPr algn="l">
              <a:lnSpc>
                <a:spcPts val="3228"/>
              </a:lnSpc>
            </a:pPr>
          </a:p>
          <a:p>
            <a:pPr algn="l">
              <a:lnSpc>
                <a:spcPts val="3228"/>
              </a:lnSpc>
            </a:pPr>
            <a:r>
              <a:rPr lang="en-US" sz="3045" spc="112">
                <a:solidFill>
                  <a:srgbClr val="152703"/>
                </a:solidFill>
                <a:latin typeface="Clear Sans"/>
                <a:ea typeface="Clear Sans"/>
                <a:cs typeface="Clear Sans"/>
                <a:sym typeface="Clear Sans"/>
              </a:rPr>
              <a:t>• Certaines fonctionnalités nécessitent une connexion Internet pour fonctionner correctement</a:t>
            </a:r>
          </a:p>
          <a:p>
            <a:pPr algn="l">
              <a:lnSpc>
                <a:spcPts val="3228"/>
              </a:lnSpc>
            </a:pPr>
            <a:r>
              <a:rPr lang="en-US" sz="3045" spc="112">
                <a:solidFill>
                  <a:srgbClr val="152703"/>
                </a:solidFill>
                <a:latin typeface="Clear Sans"/>
                <a:ea typeface="Clear Sans"/>
                <a:cs typeface="Clear Sans"/>
                <a:sym typeface="Clear Sans"/>
              </a:rPr>
              <a:t>.</a:t>
            </a:r>
          </a:p>
          <a:p>
            <a:pPr algn="l">
              <a:lnSpc>
                <a:spcPts val="3228"/>
              </a:lnSpc>
            </a:pPr>
            <a:r>
              <a:rPr lang="en-US" sz="3045" spc="112">
                <a:solidFill>
                  <a:srgbClr val="152703"/>
                </a:solidFill>
                <a:latin typeface="Clear Sans"/>
                <a:ea typeface="Clear Sans"/>
                <a:cs typeface="Clear Sans"/>
                <a:sym typeface="Clear Sans"/>
              </a:rPr>
              <a:t>• Le système d’optimisation des tournées peut être amélioré pour prendre en compte davantage de contraintes (trafic, priorités, distance réelle).</a:t>
            </a:r>
          </a:p>
          <a:p>
            <a:pPr algn="l">
              <a:lnSpc>
                <a:spcPts val="3228"/>
              </a:lnSpc>
            </a:pPr>
          </a:p>
          <a:p>
            <a:pPr algn="l">
              <a:lnSpc>
                <a:spcPts val="3228"/>
              </a:lnSpc>
              <a:spcBef>
                <a:spcPct val="0"/>
              </a:spcBef>
            </a:pPr>
            <a:r>
              <a:rPr lang="en-US" sz="3045" spc="112">
                <a:solidFill>
                  <a:srgbClr val="152703"/>
                </a:solidFill>
                <a:latin typeface="Clear Sans"/>
                <a:ea typeface="Clear Sans"/>
                <a:cs typeface="Clear Sans"/>
                <a:sym typeface="Clear Sans"/>
              </a:rPr>
              <a:t>• Le projet est actuellement déployé à petite échelle et n’a pas encore été testé dans un environnement urbain réel à grande échelle.</a:t>
            </a:r>
          </a:p>
          <a:p>
            <a:pPr algn="l">
              <a:lnSpc>
                <a:spcPts val="3228"/>
              </a:lnSpc>
              <a:spcBef>
                <a:spcPct val="0"/>
              </a:spcBef>
            </a:pPr>
          </a:p>
        </p:txBody>
      </p:sp>
      <p:sp>
        <p:nvSpPr>
          <p:cNvPr name="TextBox 5" id="5"/>
          <p:cNvSpPr txBox="true"/>
          <p:nvPr/>
        </p:nvSpPr>
        <p:spPr>
          <a:xfrm rot="0">
            <a:off x="2635307" y="2238707"/>
            <a:ext cx="10566516"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Limites du projet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TextBox 2" id="2"/>
          <p:cNvSpPr txBox="true"/>
          <p:nvPr/>
        </p:nvSpPr>
        <p:spPr>
          <a:xfrm rot="0">
            <a:off x="2174923" y="3098628"/>
            <a:ext cx="10892167" cy="5340522"/>
          </a:xfrm>
          <a:prstGeom prst="rect">
            <a:avLst/>
          </a:prstGeom>
        </p:spPr>
        <p:txBody>
          <a:bodyPr anchor="t" rtlCol="false" tIns="0" lIns="0" bIns="0" rIns="0">
            <a:spAutoFit/>
          </a:bodyPr>
          <a:lstStyle/>
          <a:p>
            <a:pPr algn="l">
              <a:lnSpc>
                <a:spcPts val="3228"/>
              </a:lnSpc>
            </a:pPr>
            <a:r>
              <a:rPr lang="en-US" sz="3045" spc="112">
                <a:solidFill>
                  <a:srgbClr val="152703"/>
                </a:solidFill>
                <a:latin typeface="Clear Sans"/>
                <a:ea typeface="Clear Sans"/>
                <a:cs typeface="Clear Sans"/>
                <a:sym typeface="Clear Sans"/>
              </a:rPr>
              <a:t>• Développer un mode hors ligne pour certaines fonctionnalités de l’application.</a:t>
            </a:r>
          </a:p>
          <a:p>
            <a:pPr algn="l">
              <a:lnSpc>
                <a:spcPts val="3228"/>
              </a:lnSpc>
            </a:pPr>
          </a:p>
          <a:p>
            <a:pPr algn="l">
              <a:lnSpc>
                <a:spcPts val="3228"/>
              </a:lnSpc>
            </a:pPr>
            <a:r>
              <a:rPr lang="en-US" sz="3045" spc="112">
                <a:solidFill>
                  <a:srgbClr val="152703"/>
                </a:solidFill>
                <a:latin typeface="Clear Sans"/>
                <a:ea typeface="Clear Sans"/>
                <a:cs typeface="Clear Sans"/>
                <a:sym typeface="Clear Sans"/>
              </a:rPr>
              <a:t>• Améliorer l’algorithme d’optimisation des tournées en intégrant le trafic routier et les priorités des interventions.</a:t>
            </a:r>
          </a:p>
          <a:p>
            <a:pPr algn="l">
              <a:lnSpc>
                <a:spcPts val="3228"/>
              </a:lnSpc>
            </a:pPr>
          </a:p>
          <a:p>
            <a:pPr algn="l">
              <a:lnSpc>
                <a:spcPts val="3228"/>
              </a:lnSpc>
            </a:pPr>
            <a:r>
              <a:rPr lang="en-US" sz="3045" spc="112">
                <a:solidFill>
                  <a:srgbClr val="152703"/>
                </a:solidFill>
                <a:latin typeface="Clear Sans"/>
                <a:ea typeface="Clear Sans"/>
                <a:cs typeface="Clear Sans"/>
                <a:sym typeface="Clear Sans"/>
              </a:rPr>
              <a:t>• Déployer et tester la plateforme à grande échelle dans plusieurs villes.</a:t>
            </a:r>
          </a:p>
          <a:p>
            <a:pPr algn="l">
              <a:lnSpc>
                <a:spcPts val="3228"/>
              </a:lnSpc>
            </a:pPr>
          </a:p>
          <a:p>
            <a:pPr algn="l">
              <a:lnSpc>
                <a:spcPts val="3228"/>
              </a:lnSpc>
              <a:spcBef>
                <a:spcPct val="0"/>
              </a:spcBef>
            </a:pPr>
            <a:r>
              <a:rPr lang="en-US" sz="3045" spc="112">
                <a:solidFill>
                  <a:srgbClr val="152703"/>
                </a:solidFill>
                <a:latin typeface="Clear Sans"/>
                <a:ea typeface="Clear Sans"/>
                <a:cs typeface="Clear Sans"/>
                <a:sym typeface="Clear Sans"/>
              </a:rPr>
              <a:t>• Développer davantage les statistiques et les outils d’aide à la décision.</a:t>
            </a:r>
          </a:p>
          <a:p>
            <a:pPr algn="l">
              <a:lnSpc>
                <a:spcPts val="3228"/>
              </a:lnSpc>
              <a:spcBef>
                <a:spcPct val="0"/>
              </a:spcBef>
            </a:pPr>
          </a:p>
        </p:txBody>
      </p:sp>
      <p:grpSp>
        <p:nvGrpSpPr>
          <p:cNvPr name="Group 3" id="3"/>
          <p:cNvGrpSpPr/>
          <p:nvPr/>
        </p:nvGrpSpPr>
        <p:grpSpPr>
          <a:xfrm rot="0">
            <a:off x="623756" y="429490"/>
            <a:ext cx="1782154" cy="1680110"/>
            <a:chOff x="0" y="0"/>
            <a:chExt cx="276102" cy="260293"/>
          </a:xfrm>
        </p:grpSpPr>
        <p:sp>
          <p:nvSpPr>
            <p:cNvPr name="Freeform 4" id="4"/>
            <p:cNvSpPr/>
            <p:nvPr/>
          </p:nvSpPr>
          <p:spPr>
            <a:xfrm flipH="false" flipV="false" rot="0">
              <a:off x="0" y="0"/>
              <a:ext cx="276102" cy="260293"/>
            </a:xfrm>
            <a:custGeom>
              <a:avLst/>
              <a:gdLst/>
              <a:ahLst/>
              <a:cxnLst/>
              <a:rect r="r" b="b" t="t" l="l"/>
              <a:pathLst>
                <a:path h="260293" w="276102">
                  <a:moveTo>
                    <a:pt x="138051" y="0"/>
                  </a:moveTo>
                  <a:cubicBezTo>
                    <a:pt x="61808" y="0"/>
                    <a:pt x="0" y="58269"/>
                    <a:pt x="0" y="130147"/>
                  </a:cubicBezTo>
                  <a:cubicBezTo>
                    <a:pt x="0" y="202024"/>
                    <a:pt x="61808" y="260293"/>
                    <a:pt x="138051" y="260293"/>
                  </a:cubicBezTo>
                  <a:cubicBezTo>
                    <a:pt x="214295" y="260293"/>
                    <a:pt x="276102" y="202024"/>
                    <a:pt x="276102" y="130147"/>
                  </a:cubicBezTo>
                  <a:cubicBezTo>
                    <a:pt x="276102" y="58269"/>
                    <a:pt x="214295" y="0"/>
                    <a:pt x="138051" y="0"/>
                  </a:cubicBezTo>
                  <a:close/>
                </a:path>
              </a:pathLst>
            </a:custGeom>
            <a:blipFill>
              <a:blip r:embed="rId2"/>
              <a:stretch>
                <a:fillRect l="0" t="-3036" r="0" b="-3036"/>
              </a:stretch>
            </a:blipFill>
          </p:spPr>
        </p:sp>
      </p:grpSp>
      <p:sp>
        <p:nvSpPr>
          <p:cNvPr name="TextBox 5" id="5"/>
          <p:cNvSpPr txBox="true"/>
          <p:nvPr/>
        </p:nvSpPr>
        <p:spPr>
          <a:xfrm rot="0">
            <a:off x="2174923" y="2023876"/>
            <a:ext cx="10566516" cy="820288"/>
          </a:xfrm>
          <a:prstGeom prst="rect">
            <a:avLst/>
          </a:prstGeom>
        </p:spPr>
        <p:txBody>
          <a:bodyPr anchor="t" rtlCol="false" tIns="0" lIns="0" bIns="0" rIns="0">
            <a:spAutoFit/>
          </a:bodyPr>
          <a:lstStyle/>
          <a:p>
            <a:pPr algn="l">
              <a:lnSpc>
                <a:spcPts val="6762"/>
              </a:lnSpc>
            </a:pPr>
            <a:r>
              <a:rPr lang="en-US" sz="4830" b="true">
                <a:solidFill>
                  <a:srgbClr val="152703"/>
                </a:solidFill>
                <a:latin typeface="Clear Sans Medium"/>
                <a:ea typeface="Clear Sans Medium"/>
                <a:cs typeface="Clear Sans Medium"/>
                <a:sym typeface="Clear Sans Medium"/>
              </a:rPr>
              <a:t>Améliorations futures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a:off x="4339203" y="6024753"/>
            <a:ext cx="9296778" cy="0"/>
          </a:xfrm>
          <a:prstGeom prst="line">
            <a:avLst/>
          </a:prstGeom>
          <a:ln cap="flat" w="76200">
            <a:solidFill>
              <a:srgbClr val="006838"/>
            </a:solidFill>
            <a:prstDash val="solid"/>
            <a:headEnd type="none" len="sm" w="sm"/>
            <a:tailEnd type="none" len="sm" w="sm"/>
          </a:ln>
        </p:spPr>
      </p:sp>
      <p:sp>
        <p:nvSpPr>
          <p:cNvPr name="Freeform 3" id="3"/>
          <p:cNvSpPr/>
          <p:nvPr/>
        </p:nvSpPr>
        <p:spPr>
          <a:xfrm flipH="false" flipV="false" rot="0">
            <a:off x="-201375" y="6596345"/>
            <a:ext cx="3215176" cy="3158039"/>
          </a:xfrm>
          <a:custGeom>
            <a:avLst/>
            <a:gdLst/>
            <a:ahLst/>
            <a:cxnLst/>
            <a:rect r="r" b="b" t="t" l="l"/>
            <a:pathLst>
              <a:path h="3158039" w="3215176">
                <a:moveTo>
                  <a:pt x="0" y="0"/>
                </a:moveTo>
                <a:lnTo>
                  <a:pt x="3215176" y="0"/>
                </a:lnTo>
                <a:lnTo>
                  <a:pt x="3215176" y="3158038"/>
                </a:lnTo>
                <a:lnTo>
                  <a:pt x="0" y="3158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70288" y="363187"/>
            <a:ext cx="2288628" cy="1331025"/>
            <a:chOff x="0" y="0"/>
            <a:chExt cx="354568" cy="206211"/>
          </a:xfrm>
        </p:grpSpPr>
        <p:sp>
          <p:nvSpPr>
            <p:cNvPr name="Freeform 5" id="5"/>
            <p:cNvSpPr/>
            <p:nvPr/>
          </p:nvSpPr>
          <p:spPr>
            <a:xfrm flipH="false" flipV="false" rot="0">
              <a:off x="0" y="0"/>
              <a:ext cx="354568" cy="206211"/>
            </a:xfrm>
            <a:custGeom>
              <a:avLst/>
              <a:gdLst/>
              <a:ahLst/>
              <a:cxnLst/>
              <a:rect r="r" b="b" t="t" l="l"/>
              <a:pathLst>
                <a:path h="206211" w="354568">
                  <a:moveTo>
                    <a:pt x="177284" y="0"/>
                  </a:moveTo>
                  <a:cubicBezTo>
                    <a:pt x="79373" y="0"/>
                    <a:pt x="0" y="46162"/>
                    <a:pt x="0" y="103105"/>
                  </a:cubicBezTo>
                  <a:cubicBezTo>
                    <a:pt x="0" y="160049"/>
                    <a:pt x="79373" y="206211"/>
                    <a:pt x="177284" y="206211"/>
                  </a:cubicBezTo>
                  <a:cubicBezTo>
                    <a:pt x="275196" y="206211"/>
                    <a:pt x="354568" y="160049"/>
                    <a:pt x="354568" y="103105"/>
                  </a:cubicBezTo>
                  <a:cubicBezTo>
                    <a:pt x="354568" y="46162"/>
                    <a:pt x="275196" y="0"/>
                    <a:pt x="177284" y="0"/>
                  </a:cubicBezTo>
                  <a:close/>
                </a:path>
              </a:pathLst>
            </a:custGeom>
            <a:blipFill>
              <a:blip r:embed="rId4"/>
              <a:stretch>
                <a:fillRect l="0" t="-35972" r="0" b="-35972"/>
              </a:stretch>
            </a:blipFill>
          </p:spPr>
        </p:sp>
      </p:grpSp>
      <p:sp>
        <p:nvSpPr>
          <p:cNvPr name="Freeform 6" id="6"/>
          <p:cNvSpPr/>
          <p:nvPr/>
        </p:nvSpPr>
        <p:spPr>
          <a:xfrm flipH="false" flipV="false" rot="0">
            <a:off x="15418101" y="6596345"/>
            <a:ext cx="3203691" cy="3233083"/>
          </a:xfrm>
          <a:custGeom>
            <a:avLst/>
            <a:gdLst/>
            <a:ahLst/>
            <a:cxnLst/>
            <a:rect r="r" b="b" t="t" l="l"/>
            <a:pathLst>
              <a:path h="3233083" w="3203691">
                <a:moveTo>
                  <a:pt x="0" y="0"/>
                </a:moveTo>
                <a:lnTo>
                  <a:pt x="3203692" y="0"/>
                </a:lnTo>
                <a:lnTo>
                  <a:pt x="3203692" y="3233082"/>
                </a:lnTo>
                <a:lnTo>
                  <a:pt x="0" y="3233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765276">
            <a:off x="15418101" y="363187"/>
            <a:ext cx="2429097" cy="2936271"/>
          </a:xfrm>
          <a:custGeom>
            <a:avLst/>
            <a:gdLst/>
            <a:ahLst/>
            <a:cxnLst/>
            <a:rect r="r" b="b" t="t" l="l"/>
            <a:pathLst>
              <a:path h="2936271" w="2429097">
                <a:moveTo>
                  <a:pt x="0" y="0"/>
                </a:moveTo>
                <a:lnTo>
                  <a:pt x="2429097" y="0"/>
                </a:lnTo>
                <a:lnTo>
                  <a:pt x="2429097" y="2936271"/>
                </a:lnTo>
                <a:lnTo>
                  <a:pt x="0" y="29362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4339203" y="2939476"/>
            <a:ext cx="13759249" cy="2923352"/>
          </a:xfrm>
          <a:prstGeom prst="rect">
            <a:avLst/>
          </a:prstGeom>
        </p:spPr>
        <p:txBody>
          <a:bodyPr anchor="t" rtlCol="false" tIns="0" lIns="0" bIns="0" rIns="0">
            <a:spAutoFit/>
          </a:bodyPr>
          <a:lstStyle/>
          <a:p>
            <a:pPr algn="l">
              <a:lnSpc>
                <a:spcPts val="11217"/>
              </a:lnSpc>
            </a:pPr>
            <a:r>
              <a:rPr lang="en-US" sz="11217">
                <a:solidFill>
                  <a:srgbClr val="152703"/>
                </a:solidFill>
                <a:latin typeface="Clear Sans"/>
                <a:ea typeface="Clear Sans"/>
                <a:cs typeface="Clear Sans"/>
                <a:sym typeface="Clear Sans"/>
              </a:rPr>
              <a:t>Merci pour</a:t>
            </a:r>
          </a:p>
          <a:p>
            <a:pPr algn="l">
              <a:lnSpc>
                <a:spcPts val="11217"/>
              </a:lnSpc>
            </a:pPr>
            <a:r>
              <a:rPr lang="en-US" sz="11217">
                <a:solidFill>
                  <a:srgbClr val="152703"/>
                </a:solidFill>
                <a:latin typeface="Clear Sans"/>
                <a:ea typeface="Clear Sans"/>
                <a:cs typeface="Clear Sans"/>
                <a:sym typeface="Clear Sans"/>
              </a:rPr>
              <a:t>votre </a:t>
            </a:r>
            <a:r>
              <a:rPr lang="en-US" sz="11217" b="true">
                <a:solidFill>
                  <a:srgbClr val="152703"/>
                </a:solidFill>
                <a:latin typeface="Clear Sans Bold"/>
                <a:ea typeface="Clear Sans Bold"/>
                <a:cs typeface="Clear Sans Bold"/>
                <a:sym typeface="Clear Sans Bold"/>
              </a:rPr>
              <a:t>attention</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DAHMkAd6Xak</dc:identifier>
  <dcterms:modified xsi:type="dcterms:W3CDTF">2011-08-01T06:04:30Z</dcterms:modified>
  <cp:revision>1</cp:revision>
  <dc:title>UrbanClean Système intelligent de gestion collaborative et d’optimisation de la propreté urbaine</dc:title>
</cp:coreProperties>
</file>